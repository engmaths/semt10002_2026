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9" r:id="rId4"/>
    <p:sldId id="261" r:id="rId5"/>
    <p:sldId id="262" r:id="rId6"/>
    <p:sldId id="263" r:id="rId7"/>
    <p:sldId id="267" r:id="rId8"/>
    <p:sldId id="299" r:id="rId9"/>
    <p:sldId id="298" r:id="rId10"/>
    <p:sldId id="300" r:id="rId11"/>
    <p:sldId id="301" r:id="rId12"/>
    <p:sldId id="306" r:id="rId13"/>
    <p:sldId id="265" r:id="rId14"/>
    <p:sldId id="268" r:id="rId15"/>
    <p:sldId id="269" r:id="rId16"/>
    <p:sldId id="270" r:id="rId17"/>
    <p:sldId id="272" r:id="rId18"/>
    <p:sldId id="274" r:id="rId19"/>
    <p:sldId id="275" r:id="rId20"/>
    <p:sldId id="281" r:id="rId21"/>
    <p:sldId id="271" r:id="rId22"/>
    <p:sldId id="303" r:id="rId23"/>
    <p:sldId id="304" r:id="rId24"/>
    <p:sldId id="277" r:id="rId25"/>
    <p:sldId id="278" r:id="rId26"/>
    <p:sldId id="276" r:id="rId27"/>
    <p:sldId id="280" r:id="rId28"/>
    <p:sldId id="282" r:id="rId29"/>
    <p:sldId id="283" r:id="rId30"/>
    <p:sldId id="284" r:id="rId31"/>
    <p:sldId id="285" r:id="rId32"/>
    <p:sldId id="286" r:id="rId33"/>
    <p:sldId id="305" r:id="rId34"/>
    <p:sldId id="307" r:id="rId35"/>
    <p:sldId id="287" r:id="rId36"/>
    <p:sldId id="292" r:id="rId37"/>
    <p:sldId id="293" r:id="rId38"/>
    <p:sldId id="295" r:id="rId39"/>
    <p:sldId id="294" r:id="rId40"/>
    <p:sldId id="296" r:id="rId41"/>
    <p:sldId id="297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3"/>
    <p:restoredTop sz="94731"/>
  </p:normalViewPr>
  <p:slideViewPr>
    <p:cSldViewPr snapToGrid="0">
      <p:cViewPr varScale="1">
        <p:scale>
          <a:sx n="145" d="100"/>
          <a:sy n="145" d="100"/>
        </p:scale>
        <p:origin x="1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Garrad" userId="29fa8137-b5d4-4adf-94e3-55aca812c4da" providerId="ADAL" clId="{FE7E3326-2F4E-5A39-AD8A-48BAAAFC5A20}"/>
    <pc:docChg chg="custSel addSld modSld sldOrd">
      <pc:chgData name="Martin Garrad" userId="29fa8137-b5d4-4adf-94e3-55aca812c4da" providerId="ADAL" clId="{FE7E3326-2F4E-5A39-AD8A-48BAAAFC5A20}" dt="2026-09-17T15:26:09.726" v="353"/>
      <pc:docMkLst>
        <pc:docMk/>
      </pc:docMkLst>
      <pc:sldChg chg="modSp mod">
        <pc:chgData name="Martin Garrad" userId="29fa8137-b5d4-4adf-94e3-55aca812c4da" providerId="ADAL" clId="{FE7E3326-2F4E-5A39-AD8A-48BAAAFC5A20}" dt="2026-09-17T14:08:07.035" v="175" actId="20577"/>
        <pc:sldMkLst>
          <pc:docMk/>
          <pc:sldMk cId="1773176039" sldId="256"/>
        </pc:sldMkLst>
        <pc:spChg chg="mod">
          <ac:chgData name="Martin Garrad" userId="29fa8137-b5d4-4adf-94e3-55aca812c4da" providerId="ADAL" clId="{FE7E3326-2F4E-5A39-AD8A-48BAAAFC5A20}" dt="2026-09-17T14:08:07.035" v="175" actId="20577"/>
          <ac:spMkLst>
            <pc:docMk/>
            <pc:sldMk cId="1773176039" sldId="256"/>
            <ac:spMk id="3" creationId="{9D162F11-11E1-8A8D-9682-8DEB6F1BB879}"/>
          </ac:spMkLst>
        </pc:spChg>
      </pc:sldChg>
      <pc:sldChg chg="modSp mod">
        <pc:chgData name="Martin Garrad" userId="29fa8137-b5d4-4adf-94e3-55aca812c4da" providerId="ADAL" clId="{FE7E3326-2F4E-5A39-AD8A-48BAAAFC5A20}" dt="2026-09-17T15:23:31.793" v="330" actId="20577"/>
        <pc:sldMkLst>
          <pc:docMk/>
          <pc:sldMk cId="2343005188" sldId="257"/>
        </pc:sldMkLst>
        <pc:spChg chg="mod">
          <ac:chgData name="Martin Garrad" userId="29fa8137-b5d4-4adf-94e3-55aca812c4da" providerId="ADAL" clId="{FE7E3326-2F4E-5A39-AD8A-48BAAAFC5A20}" dt="2026-09-17T15:23:31.793" v="330" actId="20577"/>
          <ac:spMkLst>
            <pc:docMk/>
            <pc:sldMk cId="2343005188" sldId="257"/>
            <ac:spMk id="3" creationId="{3C3BB22B-D79B-E146-DB08-CE5D6A63AE5D}"/>
          </ac:spMkLst>
        </pc:spChg>
      </pc:sldChg>
      <pc:sldChg chg="modSp mod">
        <pc:chgData name="Martin Garrad" userId="29fa8137-b5d4-4adf-94e3-55aca812c4da" providerId="ADAL" clId="{FE7E3326-2F4E-5A39-AD8A-48BAAAFC5A20}" dt="2026-09-17T14:12:43.116" v="222" actId="20577"/>
        <pc:sldMkLst>
          <pc:docMk/>
          <pc:sldMk cId="2547702290" sldId="263"/>
        </pc:sldMkLst>
        <pc:spChg chg="mod">
          <ac:chgData name="Martin Garrad" userId="29fa8137-b5d4-4adf-94e3-55aca812c4da" providerId="ADAL" clId="{FE7E3326-2F4E-5A39-AD8A-48BAAAFC5A20}" dt="2026-09-17T14:12:43.116" v="222" actId="20577"/>
          <ac:spMkLst>
            <pc:docMk/>
            <pc:sldMk cId="2547702290" sldId="263"/>
            <ac:spMk id="3" creationId="{D3AA0ABF-F337-6F3A-B182-C2D77F7D300F}"/>
          </ac:spMkLst>
        </pc:spChg>
      </pc:sldChg>
      <pc:sldChg chg="modSp mod">
        <pc:chgData name="Martin Garrad" userId="29fa8137-b5d4-4adf-94e3-55aca812c4da" providerId="ADAL" clId="{FE7E3326-2F4E-5A39-AD8A-48BAAAFC5A20}" dt="2026-09-17T14:42:40.940" v="292" actId="20577"/>
        <pc:sldMkLst>
          <pc:docMk/>
          <pc:sldMk cId="878202596" sldId="272"/>
        </pc:sldMkLst>
        <pc:spChg chg="mod">
          <ac:chgData name="Martin Garrad" userId="29fa8137-b5d4-4adf-94e3-55aca812c4da" providerId="ADAL" clId="{FE7E3326-2F4E-5A39-AD8A-48BAAAFC5A20}" dt="2026-09-17T14:42:40.940" v="292" actId="20577"/>
          <ac:spMkLst>
            <pc:docMk/>
            <pc:sldMk cId="878202596" sldId="272"/>
            <ac:spMk id="12" creationId="{E7E983B8-43D1-E770-C478-E4C99300AB4C}"/>
          </ac:spMkLst>
        </pc:spChg>
      </pc:sldChg>
      <pc:sldChg chg="modSp mod">
        <pc:chgData name="Martin Garrad" userId="29fa8137-b5d4-4adf-94e3-55aca812c4da" providerId="ADAL" clId="{FE7E3326-2F4E-5A39-AD8A-48BAAAFC5A20}" dt="2026-09-17T14:42:52.773" v="298" actId="20577"/>
        <pc:sldMkLst>
          <pc:docMk/>
          <pc:sldMk cId="3112048377" sldId="274"/>
        </pc:sldMkLst>
        <pc:spChg chg="mod">
          <ac:chgData name="Martin Garrad" userId="29fa8137-b5d4-4adf-94e3-55aca812c4da" providerId="ADAL" clId="{FE7E3326-2F4E-5A39-AD8A-48BAAAFC5A20}" dt="2026-09-17T14:42:52.773" v="298" actId="20577"/>
          <ac:spMkLst>
            <pc:docMk/>
            <pc:sldMk cId="3112048377" sldId="274"/>
            <ac:spMk id="12" creationId="{A808ECF5-5518-509A-A46E-5169D22A32F7}"/>
          </ac:spMkLst>
        </pc:spChg>
      </pc:sldChg>
      <pc:sldChg chg="modSp mod">
        <pc:chgData name="Martin Garrad" userId="29fa8137-b5d4-4adf-94e3-55aca812c4da" providerId="ADAL" clId="{FE7E3326-2F4E-5A39-AD8A-48BAAAFC5A20}" dt="2026-09-17T14:42:56.755" v="304" actId="20577"/>
        <pc:sldMkLst>
          <pc:docMk/>
          <pc:sldMk cId="3895602738" sldId="275"/>
        </pc:sldMkLst>
        <pc:spChg chg="mod">
          <ac:chgData name="Martin Garrad" userId="29fa8137-b5d4-4adf-94e3-55aca812c4da" providerId="ADAL" clId="{FE7E3326-2F4E-5A39-AD8A-48BAAAFC5A20}" dt="2026-09-17T14:42:56.755" v="304" actId="20577"/>
          <ac:spMkLst>
            <pc:docMk/>
            <pc:sldMk cId="3895602738" sldId="275"/>
            <ac:spMk id="12" creationId="{C720C38E-6F37-5680-BB3F-E927FEC8791B}"/>
          </ac:spMkLst>
        </pc:spChg>
      </pc:sldChg>
      <pc:sldChg chg="modSp mod">
        <pc:chgData name="Martin Garrad" userId="29fa8137-b5d4-4adf-94e3-55aca812c4da" providerId="ADAL" clId="{FE7E3326-2F4E-5A39-AD8A-48BAAAFC5A20}" dt="2026-09-17T15:24:13.968" v="339" actId="20577"/>
        <pc:sldMkLst>
          <pc:docMk/>
          <pc:sldMk cId="1006599899" sldId="276"/>
        </pc:sldMkLst>
        <pc:spChg chg="mod">
          <ac:chgData name="Martin Garrad" userId="29fa8137-b5d4-4adf-94e3-55aca812c4da" providerId="ADAL" clId="{FE7E3326-2F4E-5A39-AD8A-48BAAAFC5A20}" dt="2026-09-17T15:24:13.968" v="339" actId="20577"/>
          <ac:spMkLst>
            <pc:docMk/>
            <pc:sldMk cId="1006599899" sldId="276"/>
            <ac:spMk id="40" creationId="{23D99C2D-91D3-FA96-AFB7-F84D8657AA4D}"/>
          </ac:spMkLst>
        </pc:spChg>
      </pc:sldChg>
      <pc:sldChg chg="modSp mod">
        <pc:chgData name="Martin Garrad" userId="29fa8137-b5d4-4adf-94e3-55aca812c4da" providerId="ADAL" clId="{FE7E3326-2F4E-5A39-AD8A-48BAAAFC5A20}" dt="2026-09-17T15:22:59.527" v="323" actId="20577"/>
        <pc:sldMkLst>
          <pc:docMk/>
          <pc:sldMk cId="2583233967" sldId="277"/>
        </pc:sldMkLst>
        <pc:spChg chg="mod">
          <ac:chgData name="Martin Garrad" userId="29fa8137-b5d4-4adf-94e3-55aca812c4da" providerId="ADAL" clId="{FE7E3326-2F4E-5A39-AD8A-48BAAAFC5A20}" dt="2026-09-17T15:22:59.527" v="323" actId="20577"/>
          <ac:spMkLst>
            <pc:docMk/>
            <pc:sldMk cId="2583233967" sldId="277"/>
            <ac:spMk id="40" creationId="{15CA1FA1-17D2-FF5E-732E-7A3FD853E838}"/>
          </ac:spMkLst>
        </pc:spChg>
      </pc:sldChg>
      <pc:sldChg chg="modSp mod">
        <pc:chgData name="Martin Garrad" userId="29fa8137-b5d4-4adf-94e3-55aca812c4da" providerId="ADAL" clId="{FE7E3326-2F4E-5A39-AD8A-48BAAAFC5A20}" dt="2026-09-17T15:24:03.991" v="334" actId="5793"/>
        <pc:sldMkLst>
          <pc:docMk/>
          <pc:sldMk cId="1581026259" sldId="278"/>
        </pc:sldMkLst>
        <pc:spChg chg="mod">
          <ac:chgData name="Martin Garrad" userId="29fa8137-b5d4-4adf-94e3-55aca812c4da" providerId="ADAL" clId="{FE7E3326-2F4E-5A39-AD8A-48BAAAFC5A20}" dt="2026-09-17T15:24:03.991" v="334" actId="5793"/>
          <ac:spMkLst>
            <pc:docMk/>
            <pc:sldMk cId="1581026259" sldId="278"/>
            <ac:spMk id="40" creationId="{05137385-CA26-6F43-F6B6-F56781D05EAA}"/>
          </ac:spMkLst>
        </pc:spChg>
      </pc:sldChg>
      <pc:sldChg chg="modSp mod">
        <pc:chgData name="Martin Garrad" userId="29fa8137-b5d4-4adf-94e3-55aca812c4da" providerId="ADAL" clId="{FE7E3326-2F4E-5A39-AD8A-48BAAAFC5A20}" dt="2026-09-17T15:24:22.418" v="343" actId="5793"/>
        <pc:sldMkLst>
          <pc:docMk/>
          <pc:sldMk cId="3864897966" sldId="280"/>
        </pc:sldMkLst>
        <pc:spChg chg="mod">
          <ac:chgData name="Martin Garrad" userId="29fa8137-b5d4-4adf-94e3-55aca812c4da" providerId="ADAL" clId="{FE7E3326-2F4E-5A39-AD8A-48BAAAFC5A20}" dt="2026-09-17T15:24:22.418" v="343" actId="5793"/>
          <ac:spMkLst>
            <pc:docMk/>
            <pc:sldMk cId="3864897966" sldId="280"/>
            <ac:spMk id="40" creationId="{68A13262-6060-8D41-95E1-E78928950998}"/>
          </ac:spMkLst>
        </pc:spChg>
      </pc:sldChg>
      <pc:sldChg chg="modSp mod">
        <pc:chgData name="Martin Garrad" userId="29fa8137-b5d4-4adf-94e3-55aca812c4da" providerId="ADAL" clId="{FE7E3326-2F4E-5A39-AD8A-48BAAAFC5A20}" dt="2026-09-17T15:24:42.046" v="347" actId="5793"/>
        <pc:sldMkLst>
          <pc:docMk/>
          <pc:sldMk cId="1089495760" sldId="282"/>
        </pc:sldMkLst>
        <pc:spChg chg="mod">
          <ac:chgData name="Martin Garrad" userId="29fa8137-b5d4-4adf-94e3-55aca812c4da" providerId="ADAL" clId="{FE7E3326-2F4E-5A39-AD8A-48BAAAFC5A20}" dt="2026-09-17T15:24:42.046" v="347" actId="5793"/>
          <ac:spMkLst>
            <pc:docMk/>
            <pc:sldMk cId="1089495760" sldId="282"/>
            <ac:spMk id="40" creationId="{B3A01C1A-71C7-A2D5-C26E-F09CAED073B8}"/>
          </ac:spMkLst>
        </pc:spChg>
      </pc:sldChg>
      <pc:sldChg chg="modSp mod">
        <pc:chgData name="Martin Garrad" userId="29fa8137-b5d4-4adf-94e3-55aca812c4da" providerId="ADAL" clId="{FE7E3326-2F4E-5A39-AD8A-48BAAAFC5A20}" dt="2026-09-17T14:42:07.726" v="280" actId="20577"/>
        <pc:sldMkLst>
          <pc:docMk/>
          <pc:sldMk cId="1965968288" sldId="286"/>
        </pc:sldMkLst>
        <pc:spChg chg="mod">
          <ac:chgData name="Martin Garrad" userId="29fa8137-b5d4-4adf-94e3-55aca812c4da" providerId="ADAL" clId="{FE7E3326-2F4E-5A39-AD8A-48BAAAFC5A20}" dt="2026-09-17T14:42:07.726" v="280" actId="20577"/>
          <ac:spMkLst>
            <pc:docMk/>
            <pc:sldMk cId="1965968288" sldId="286"/>
            <ac:spMk id="16" creationId="{B48700A9-002D-9BB1-F006-D319A9C96F4C}"/>
          </ac:spMkLst>
        </pc:spChg>
      </pc:sldChg>
      <pc:sldChg chg="modSp mod">
        <pc:chgData name="Martin Garrad" userId="29fa8137-b5d4-4adf-94e3-55aca812c4da" providerId="ADAL" clId="{FE7E3326-2F4E-5A39-AD8A-48BAAAFC5A20}" dt="2026-09-17T15:22:39.859" v="320" actId="20577"/>
        <pc:sldMkLst>
          <pc:docMk/>
          <pc:sldMk cId="2820390002" sldId="292"/>
        </pc:sldMkLst>
        <pc:spChg chg="mod">
          <ac:chgData name="Martin Garrad" userId="29fa8137-b5d4-4adf-94e3-55aca812c4da" providerId="ADAL" clId="{FE7E3326-2F4E-5A39-AD8A-48BAAAFC5A20}" dt="2026-09-17T15:22:39.859" v="320" actId="20577"/>
          <ac:spMkLst>
            <pc:docMk/>
            <pc:sldMk cId="2820390002" sldId="292"/>
            <ac:spMk id="9" creationId="{D0315A2C-2D40-2CEF-2594-F725D749C02C}"/>
          </ac:spMkLst>
        </pc:spChg>
      </pc:sldChg>
      <pc:sldChg chg="addSp modSp mod">
        <pc:chgData name="Martin Garrad" userId="29fa8137-b5d4-4adf-94e3-55aca812c4da" providerId="ADAL" clId="{FE7E3326-2F4E-5A39-AD8A-48BAAAFC5A20}" dt="2026-09-17T14:13:58.890" v="243" actId="1076"/>
        <pc:sldMkLst>
          <pc:docMk/>
          <pc:sldMk cId="704847650" sldId="298"/>
        </pc:sldMkLst>
        <pc:spChg chg="add mod">
          <ac:chgData name="Martin Garrad" userId="29fa8137-b5d4-4adf-94e3-55aca812c4da" providerId="ADAL" clId="{FE7E3326-2F4E-5A39-AD8A-48BAAAFC5A20}" dt="2026-09-17T14:13:20.696" v="226" actId="14100"/>
          <ac:spMkLst>
            <pc:docMk/>
            <pc:sldMk cId="704847650" sldId="298"/>
            <ac:spMk id="7" creationId="{A8CA58A2-57E6-1C23-31E1-64FC8322B906}"/>
          </ac:spMkLst>
        </pc:spChg>
        <pc:spChg chg="add mod">
          <ac:chgData name="Martin Garrad" userId="29fa8137-b5d4-4adf-94e3-55aca812c4da" providerId="ADAL" clId="{FE7E3326-2F4E-5A39-AD8A-48BAAAFC5A20}" dt="2026-09-17T14:13:32.609" v="235" actId="20577"/>
          <ac:spMkLst>
            <pc:docMk/>
            <pc:sldMk cId="704847650" sldId="298"/>
            <ac:spMk id="8" creationId="{9F324D12-2DCC-FF37-DAFF-865980FACEDC}"/>
          </ac:spMkLst>
        </pc:spChg>
        <pc:spChg chg="add mod">
          <ac:chgData name="Martin Garrad" userId="29fa8137-b5d4-4adf-94e3-55aca812c4da" providerId="ADAL" clId="{FE7E3326-2F4E-5A39-AD8A-48BAAAFC5A20}" dt="2026-09-17T14:13:45.108" v="240" actId="1076"/>
          <ac:spMkLst>
            <pc:docMk/>
            <pc:sldMk cId="704847650" sldId="298"/>
            <ac:spMk id="14" creationId="{891591C2-63D0-B84C-82A1-37702FA8A259}"/>
          </ac:spMkLst>
        </pc:spChg>
        <pc:spChg chg="add mod">
          <ac:chgData name="Martin Garrad" userId="29fa8137-b5d4-4adf-94e3-55aca812c4da" providerId="ADAL" clId="{FE7E3326-2F4E-5A39-AD8A-48BAAAFC5A20}" dt="2026-09-17T14:13:58.890" v="243" actId="1076"/>
          <ac:spMkLst>
            <pc:docMk/>
            <pc:sldMk cId="704847650" sldId="298"/>
            <ac:spMk id="19" creationId="{34D6230D-4C37-FD7A-8E1B-EAB4FA1CFF4D}"/>
          </ac:spMkLst>
        </pc:spChg>
      </pc:sldChg>
      <pc:sldChg chg="addSp modSp">
        <pc:chgData name="Martin Garrad" userId="29fa8137-b5d4-4adf-94e3-55aca812c4da" providerId="ADAL" clId="{FE7E3326-2F4E-5A39-AD8A-48BAAAFC5A20}" dt="2026-09-17T15:26:09.726" v="353"/>
        <pc:sldMkLst>
          <pc:docMk/>
          <pc:sldMk cId="3926886840" sldId="300"/>
        </pc:sldMkLst>
        <pc:spChg chg="add mod">
          <ac:chgData name="Martin Garrad" userId="29fa8137-b5d4-4adf-94e3-55aca812c4da" providerId="ADAL" clId="{FE7E3326-2F4E-5A39-AD8A-48BAAAFC5A20}" dt="2026-09-17T15:26:09.726" v="353"/>
          <ac:spMkLst>
            <pc:docMk/>
            <pc:sldMk cId="3926886840" sldId="300"/>
            <ac:spMk id="7" creationId="{81F696E2-EBD7-663A-64F3-F73DAE77D18E}"/>
          </ac:spMkLst>
        </pc:spChg>
        <pc:spChg chg="add mod">
          <ac:chgData name="Martin Garrad" userId="29fa8137-b5d4-4adf-94e3-55aca812c4da" providerId="ADAL" clId="{FE7E3326-2F4E-5A39-AD8A-48BAAAFC5A20}" dt="2026-09-17T15:26:09.726" v="353"/>
          <ac:spMkLst>
            <pc:docMk/>
            <pc:sldMk cId="3926886840" sldId="300"/>
            <ac:spMk id="8" creationId="{53BFE3B1-0DE0-1E19-D42D-CD24664CB10C}"/>
          </ac:spMkLst>
        </pc:spChg>
        <pc:spChg chg="add mod">
          <ac:chgData name="Martin Garrad" userId="29fa8137-b5d4-4adf-94e3-55aca812c4da" providerId="ADAL" clId="{FE7E3326-2F4E-5A39-AD8A-48BAAAFC5A20}" dt="2026-09-17T15:26:09.726" v="353"/>
          <ac:spMkLst>
            <pc:docMk/>
            <pc:sldMk cId="3926886840" sldId="300"/>
            <ac:spMk id="10" creationId="{B54313CE-5741-8026-8EB0-5CE5BAE9B35A}"/>
          </ac:spMkLst>
        </pc:spChg>
        <pc:spChg chg="add mod">
          <ac:chgData name="Martin Garrad" userId="29fa8137-b5d4-4adf-94e3-55aca812c4da" providerId="ADAL" clId="{FE7E3326-2F4E-5A39-AD8A-48BAAAFC5A20}" dt="2026-09-17T15:26:09.726" v="353"/>
          <ac:spMkLst>
            <pc:docMk/>
            <pc:sldMk cId="3926886840" sldId="300"/>
            <ac:spMk id="14" creationId="{4F78B87C-3148-ED77-3391-5597E25F291A}"/>
          </ac:spMkLst>
        </pc:spChg>
      </pc:sldChg>
      <pc:sldChg chg="ord">
        <pc:chgData name="Martin Garrad" userId="29fa8137-b5d4-4adf-94e3-55aca812c4da" providerId="ADAL" clId="{FE7E3326-2F4E-5A39-AD8A-48BAAAFC5A20}" dt="2026-09-17T14:15:18.834" v="244" actId="20578"/>
        <pc:sldMkLst>
          <pc:docMk/>
          <pc:sldMk cId="3765792024" sldId="301"/>
        </pc:sldMkLst>
      </pc:sldChg>
      <pc:sldChg chg="modSp mod">
        <pc:chgData name="Martin Garrad" userId="29fa8137-b5d4-4adf-94e3-55aca812c4da" providerId="ADAL" clId="{FE7E3326-2F4E-5A39-AD8A-48BAAAFC5A20}" dt="2026-09-17T15:23:18.517" v="328" actId="20577"/>
        <pc:sldMkLst>
          <pc:docMk/>
          <pc:sldMk cId="337175999" sldId="303"/>
        </pc:sldMkLst>
        <pc:spChg chg="mod">
          <ac:chgData name="Martin Garrad" userId="29fa8137-b5d4-4adf-94e3-55aca812c4da" providerId="ADAL" clId="{FE7E3326-2F4E-5A39-AD8A-48BAAAFC5A20}" dt="2026-09-17T15:23:18.517" v="328" actId="20577"/>
          <ac:spMkLst>
            <pc:docMk/>
            <pc:sldMk cId="337175999" sldId="303"/>
            <ac:spMk id="40" creationId="{7680F1C2-933E-0BC7-A088-1EB69406BACC}"/>
          </ac:spMkLst>
        </pc:spChg>
        <pc:picChg chg="mod">
          <ac:chgData name="Martin Garrad" userId="29fa8137-b5d4-4adf-94e3-55aca812c4da" providerId="ADAL" clId="{FE7E3326-2F4E-5A39-AD8A-48BAAAFC5A20}" dt="2026-09-17T14:22:28.127" v="268" actId="1076"/>
          <ac:picMkLst>
            <pc:docMk/>
            <pc:sldMk cId="337175999" sldId="303"/>
            <ac:picMk id="41" creationId="{C6912690-0B8D-E770-EE3E-889E8AE2ADE5}"/>
          </ac:picMkLst>
        </pc:picChg>
      </pc:sldChg>
      <pc:sldChg chg="modSp mod">
        <pc:chgData name="Martin Garrad" userId="29fa8137-b5d4-4adf-94e3-55aca812c4da" providerId="ADAL" clId="{FE7E3326-2F4E-5A39-AD8A-48BAAAFC5A20}" dt="2026-09-17T15:22:57.026" v="322" actId="20577"/>
        <pc:sldMkLst>
          <pc:docMk/>
          <pc:sldMk cId="3497437243" sldId="304"/>
        </pc:sldMkLst>
        <pc:spChg chg="mod">
          <ac:chgData name="Martin Garrad" userId="29fa8137-b5d4-4adf-94e3-55aca812c4da" providerId="ADAL" clId="{FE7E3326-2F4E-5A39-AD8A-48BAAAFC5A20}" dt="2026-09-17T15:22:57.026" v="322" actId="20577"/>
          <ac:spMkLst>
            <pc:docMk/>
            <pc:sldMk cId="3497437243" sldId="304"/>
            <ac:spMk id="40" creationId="{2B8F822F-739F-97B0-066F-737AB5E38D8F}"/>
          </ac:spMkLst>
        </pc:spChg>
      </pc:sldChg>
      <pc:sldChg chg="modSp mod">
        <pc:chgData name="Martin Garrad" userId="29fa8137-b5d4-4adf-94e3-55aca812c4da" providerId="ADAL" clId="{FE7E3326-2F4E-5A39-AD8A-48BAAAFC5A20}" dt="2026-09-17T15:24:57.936" v="352" actId="20577"/>
        <pc:sldMkLst>
          <pc:docMk/>
          <pc:sldMk cId="1496779790" sldId="307"/>
        </pc:sldMkLst>
        <pc:spChg chg="mod">
          <ac:chgData name="Martin Garrad" userId="29fa8137-b5d4-4adf-94e3-55aca812c4da" providerId="ADAL" clId="{FE7E3326-2F4E-5A39-AD8A-48BAAAFC5A20}" dt="2026-09-17T15:24:57.936" v="352" actId="20577"/>
          <ac:spMkLst>
            <pc:docMk/>
            <pc:sldMk cId="1496779790" sldId="307"/>
            <ac:spMk id="40" creationId="{4762B84B-7569-4BA9-C640-E8971A65F3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FFC1C-5262-4543-9BBE-0C5AA43086F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9EED5-87EA-774C-9B10-AE639F69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 5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Students are used to encountering algorithms in their daily lives- not exotic or incomprehensible, but in fact mundane and ordinary.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96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98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 25 mins to get to this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24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5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7187-418E-3E00-FC5C-2565A313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8B3FE-A5A3-1AAA-DE8E-A835EB162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AC7E2-0C4F-1E7C-859E-7F5807683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9F938-319A-55BC-997F-8F665D51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9EED5-87EA-774C-9B10-AE639F696C4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7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4CA04-8A07-68C1-9A20-67C4B41C7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A042A-A820-A3DB-1081-5C02CCB9F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C5D48-DA3D-6DAA-5E0F-E015D1C3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E3708-9012-C32B-E6F8-646F1E66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8699-0F42-2628-7FD5-49F8D77E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ADC3-299A-C88E-E342-769CEA0A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DBBC-96A2-981B-02EA-E38603BB4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D2926-E443-1382-D8C4-C10E2DAD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C7A0C-7079-A357-867D-98B87E86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83E51-CF78-8A02-55C5-824BF3D1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0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11AF-C562-5EF3-CF5D-470E5A534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6B2D5-5B56-A6CD-00D8-D2ED52D4A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05DA-3FBA-B0E6-AC41-28E6950E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0B15-502C-5195-0273-138F4C37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8DCA-E4E5-DC25-51A0-F6829486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0AC7-D26B-49B2-4DBA-77484F94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3DE06-2B72-A71B-CE74-1E52EAB9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0A51A-42E1-8A34-F742-ADCD0BA39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00AE9-B0AD-84A4-9AC8-CFBE5ECF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60039-5172-5B86-7171-531A62D6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56878-0B82-8A6E-BE29-03B41A8E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4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09E3-4A51-454A-F333-4D043E45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27774-C715-6D71-0FDC-429C9C204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E760B-72D4-051F-AE26-ABA791123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7377E-4083-441D-3A30-7B43E6EC2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664DC-6161-BD00-4C29-CF46675B3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31589-9204-A946-0EE4-76456255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8D682-CC61-B9B3-E1F4-7D5FE60E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C5474-EF93-E300-7B12-A8BD804A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8C9C-8CCC-9E34-82F2-3270A29F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06716-00C3-AF96-7FA8-DA3F9958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7781E-E7A0-0E58-7C7F-DAE9F689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A0C75-028F-7D48-7E72-A13BE13B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04DC2-5EA2-42B9-C740-7E2FB389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BF823-E733-91BF-0AB4-872B6844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B80E1-797B-0C76-2A86-13841E82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8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07BA-F266-C772-01DE-B987CB6B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F2CD-8386-3812-B8DA-C5A594F32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BBD88-1F5A-5B37-D205-9F7CFE5BA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4FE84-064D-BEDC-DDAE-6D584723E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745B6-260E-E698-16B0-64568490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1CE56-F7C4-7D5D-01C4-8337DF54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2B1B-9BD7-BFC9-89FD-15B80928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CFD42-B433-3DC4-7DF5-49E0C2742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5E224-9E62-128E-930C-A14A2CA0C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8E98-725F-2789-6C3B-956A1EB0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DE45F-2A38-62F1-B0EF-CD4E0EF7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6F716-007A-ACF5-FC5A-E0EB2818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6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A674-0A74-26E9-0021-2FDC5D25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8E2A1-43D6-19C9-3E7E-17911A75F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6F1A-2C8A-7B1A-01C3-A70945F2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019DD-DF7B-C001-B684-A19A356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F804-F312-3E69-2263-3511E781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2F765-19EB-8B2F-5B87-7842E8980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F2C9F-7FB9-AF7D-A40B-A4EE5A54F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71F7-D53F-E692-44B6-A6C09556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4A8B9-0D17-74A6-40FB-CCD269D8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3A09D-C2C8-1930-EE59-4BCD21C1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6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C1838-499F-BCA1-ACC5-5CFE5ED6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16A8B-EE4A-C3C9-3BE5-6F01CAAE4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5BA9E-B3A2-B74F-43EF-9E7875771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B69F8-D140-384A-AC86-0BBD87A381F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2B01-51AF-E414-E0B4-4F112422B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9EA0D-52B1-5494-E11A-4C679C450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1087F-4F9D-6B48-9AE2-5AB0B3E48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5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C778-9121-A92C-7B8D-1FE67555C2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Algorithms and how a computer executes them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62F11-11E1-8A8D-9682-8DEB6F1BB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programming and algorithms 26/27</a:t>
            </a:r>
          </a:p>
          <a:p>
            <a:r>
              <a:rPr lang="en-US" dirty="0"/>
              <a:t>Seminar 1</a:t>
            </a:r>
          </a:p>
        </p:txBody>
      </p:sp>
    </p:spTree>
    <p:extLst>
      <p:ext uri="{BB962C8B-B14F-4D97-AF65-F5344CB8AC3E}">
        <p14:creationId xmlns:p14="http://schemas.microsoft.com/office/powerpoint/2010/main" val="177317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570-0929-E058-0272-7E63BE9A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already know?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B22B-D79B-E146-DB08-CE5D6A63A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9051"/>
          </a:xfrm>
        </p:spPr>
        <p:txBody>
          <a:bodyPr>
            <a:normAutofit/>
          </a:bodyPr>
          <a:lstStyle/>
          <a:p>
            <a:r>
              <a:rPr lang="en-US" dirty="0"/>
              <a:t>What do we mean by the word </a:t>
            </a:r>
            <a:r>
              <a:rPr lang="en-US" i="1" dirty="0"/>
              <a:t>algorithm?</a:t>
            </a:r>
            <a:endParaRPr lang="en-US" dirty="0"/>
          </a:p>
          <a:p>
            <a:r>
              <a:rPr lang="en-US" dirty="0"/>
              <a:t>What do we mean by the word </a:t>
            </a:r>
            <a:r>
              <a:rPr lang="en-US" i="1" dirty="0"/>
              <a:t>computer program?</a:t>
            </a:r>
          </a:p>
          <a:p>
            <a:endParaRPr lang="en-US" i="1" dirty="0"/>
          </a:p>
          <a:p>
            <a:r>
              <a:rPr lang="en-US" dirty="0"/>
              <a:t>Are these the same thing? Are they different? (if so, how?).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Please discuss these questions with the people on your table (~ 5 minutes) and then </a:t>
            </a:r>
            <a:r>
              <a:rPr lang="en-US" dirty="0" err="1"/>
              <a:t>summarise</a:t>
            </a:r>
            <a:r>
              <a:rPr lang="en-US" dirty="0"/>
              <a:t> your answer on Menti with code: 4154 2054</a:t>
            </a:r>
          </a:p>
        </p:txBody>
      </p:sp>
    </p:spTree>
    <p:extLst>
      <p:ext uri="{BB962C8B-B14F-4D97-AF65-F5344CB8AC3E}">
        <p14:creationId xmlns:p14="http://schemas.microsoft.com/office/powerpoint/2010/main" val="234300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A09F-C0AE-4396-13F8-A5819F58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0A90-9A7F-509C-D767-84D53532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what we mean by the word </a:t>
            </a:r>
            <a:r>
              <a:rPr lang="en-US" i="1" dirty="0"/>
              <a:t>algorithm.</a:t>
            </a:r>
            <a:endParaRPr lang="en-US" dirty="0"/>
          </a:p>
          <a:p>
            <a:r>
              <a:rPr lang="en-US" dirty="0"/>
              <a:t>Begin to develop a mental model of how a computer can </a:t>
            </a:r>
            <a:r>
              <a:rPr lang="en-US" i="1" dirty="0"/>
              <a:t>execute</a:t>
            </a:r>
            <a:r>
              <a:rPr lang="en-US" dirty="0"/>
              <a:t> an algorithm. </a:t>
            </a:r>
          </a:p>
        </p:txBody>
      </p:sp>
    </p:spTree>
    <p:extLst>
      <p:ext uri="{BB962C8B-B14F-4D97-AF65-F5344CB8AC3E}">
        <p14:creationId xmlns:p14="http://schemas.microsoft.com/office/powerpoint/2010/main" val="386291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A64F-1061-7688-8264-9ADD78F6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6C70-C3D3-DA82-56DF-5B98E449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84C4-8633-A94B-7B32-754C491ED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algorithm is a set of instructions that can be followed to complete a task.</a:t>
            </a:r>
          </a:p>
          <a:p>
            <a:pPr marL="0" indent="0">
              <a:buNone/>
            </a:pPr>
            <a:r>
              <a:rPr lang="en-US" dirty="0"/>
              <a:t>For example, to make a Lego model, we follow instructions.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5A48C2-D42F-E9CE-73C8-A1E6336B9AE7}"/>
              </a:ext>
            </a:extLst>
          </p:cNvPr>
          <p:cNvGrpSpPr/>
          <p:nvPr/>
        </p:nvGrpSpPr>
        <p:grpSpPr>
          <a:xfrm>
            <a:off x="1587011" y="3604846"/>
            <a:ext cx="9017977" cy="2022841"/>
            <a:chOff x="838200" y="4001294"/>
            <a:chExt cx="10515600" cy="2358776"/>
          </a:xfrm>
        </p:grpSpPr>
        <p:pic>
          <p:nvPicPr>
            <p:cNvPr id="1026" name="Picture 2" descr="Police Station">
              <a:extLst>
                <a:ext uri="{FF2B5EF4-FFF2-40B4-BE49-F238E27FC236}">
                  <a16:creationId xmlns:a16="http://schemas.microsoft.com/office/drawing/2014/main" id="{9637D37C-FAD2-5BD8-5ADB-A50D6FCE9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001294"/>
              <a:ext cx="2768517" cy="2358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A instructions for building a house&#10;&#10;AI-generated content may be incorrect.">
              <a:extLst>
                <a:ext uri="{FF2B5EF4-FFF2-40B4-BE49-F238E27FC236}">
                  <a16:creationId xmlns:a16="http://schemas.microsoft.com/office/drawing/2014/main" id="{84E45741-F93F-1F93-736A-5A2FD4BE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1597" y="4129727"/>
              <a:ext cx="2768517" cy="2101911"/>
            </a:xfrm>
            <a:prstGeom prst="rect">
              <a:avLst/>
            </a:prstGeom>
          </p:spPr>
        </p:pic>
        <p:pic>
          <p:nvPicPr>
            <p:cNvPr id="8" name="Picture 7" descr="A black and white lego block&#10;&#10;AI-generated content may be incorrect.">
              <a:extLst>
                <a:ext uri="{FF2B5EF4-FFF2-40B4-BE49-F238E27FC236}">
                  <a16:creationId xmlns:a16="http://schemas.microsoft.com/office/drawing/2014/main" id="{5B8A5E4C-7BED-718B-82AF-349E584E4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4993" y="4129726"/>
              <a:ext cx="2768807" cy="2101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91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9C0D0-3C40-AF6A-0655-2AD4044F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4BCA-5224-F68C-2663-0047BD73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C60F-2315-E18A-9F12-91AC58DF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2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An algorithm is a set of instructions that can be followed to complete a task.</a:t>
            </a:r>
          </a:p>
          <a:p>
            <a:pPr marL="0" indent="0">
              <a:buNone/>
            </a:pPr>
            <a:r>
              <a:rPr lang="en-US" dirty="0"/>
              <a:t>For example, to make a Lego model, we follow instructions.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73E7A1-0A80-4927-8E6A-C0E6021DE2AC}"/>
              </a:ext>
            </a:extLst>
          </p:cNvPr>
          <p:cNvGrpSpPr/>
          <p:nvPr/>
        </p:nvGrpSpPr>
        <p:grpSpPr>
          <a:xfrm>
            <a:off x="1587011" y="3604846"/>
            <a:ext cx="9017977" cy="2022841"/>
            <a:chOff x="838200" y="4001294"/>
            <a:chExt cx="10515600" cy="2358776"/>
          </a:xfrm>
        </p:grpSpPr>
        <p:pic>
          <p:nvPicPr>
            <p:cNvPr id="5" name="Picture 2" descr="Police Station">
              <a:extLst>
                <a:ext uri="{FF2B5EF4-FFF2-40B4-BE49-F238E27FC236}">
                  <a16:creationId xmlns:a16="http://schemas.microsoft.com/office/drawing/2014/main" id="{C8AEC52C-4ED3-767E-ECF2-7197791549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001294"/>
              <a:ext cx="2768517" cy="2358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 instructions for building a house&#10;&#10;AI-generated content may be incorrect.">
              <a:extLst>
                <a:ext uri="{FF2B5EF4-FFF2-40B4-BE49-F238E27FC236}">
                  <a16:creationId xmlns:a16="http://schemas.microsoft.com/office/drawing/2014/main" id="{0AF41498-AD21-95B9-5549-B723C81FA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1597" y="4129727"/>
              <a:ext cx="2768517" cy="2101911"/>
            </a:xfrm>
            <a:prstGeom prst="rect">
              <a:avLst/>
            </a:prstGeom>
          </p:spPr>
        </p:pic>
        <p:pic>
          <p:nvPicPr>
            <p:cNvPr id="10" name="Picture 9" descr="A black and white lego block&#10;&#10;AI-generated content may be incorrect.">
              <a:extLst>
                <a:ext uri="{FF2B5EF4-FFF2-40B4-BE49-F238E27FC236}">
                  <a16:creationId xmlns:a16="http://schemas.microsoft.com/office/drawing/2014/main" id="{AB8CC5B0-E25A-2029-0131-16F1A3B92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84993" y="4129726"/>
              <a:ext cx="2768807" cy="2101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024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A1B5-2263-8C5A-7C8C-9D075753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0ABF-F337-6F3A-B182-C2D77F7D3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course, we won’t just be </a:t>
            </a:r>
            <a:r>
              <a:rPr lang="en-US" i="1" dirty="0"/>
              <a:t>following</a:t>
            </a:r>
            <a:r>
              <a:rPr lang="en-US" dirty="0"/>
              <a:t> algorithms, but also </a:t>
            </a:r>
            <a:r>
              <a:rPr lang="en-US" i="1" dirty="0"/>
              <a:t>designing them. </a:t>
            </a:r>
          </a:p>
          <a:p>
            <a:r>
              <a:rPr lang="en-US" dirty="0"/>
              <a:t>Typically, this means breaking a larger job down into a sequence of smaller steps. </a:t>
            </a:r>
          </a:p>
          <a:p>
            <a:pPr lvl="1"/>
            <a:r>
              <a:rPr lang="en-US" dirty="0"/>
              <a:t>We may do this </a:t>
            </a:r>
            <a:r>
              <a:rPr lang="en-US" i="1" dirty="0"/>
              <a:t>iteratively- </a:t>
            </a:r>
            <a:r>
              <a:rPr lang="en-US" dirty="0" err="1"/>
              <a:t>e.g</a:t>
            </a:r>
            <a:r>
              <a:rPr lang="en-US" dirty="0"/>
              <a:t> we may need to break some of our “smaller steps” into separate tasks.</a:t>
            </a:r>
          </a:p>
          <a:p>
            <a:pPr lvl="1"/>
            <a:r>
              <a:rPr lang="en-US" dirty="0"/>
              <a:t>Often we will make use of </a:t>
            </a:r>
            <a:r>
              <a:rPr lang="en-US" i="1" dirty="0"/>
              <a:t>decisions</a:t>
            </a:r>
            <a:r>
              <a:rPr lang="en-US" dirty="0"/>
              <a:t> (using some criteria to decide which instruction should be done next or whether we should continue / stop) and </a:t>
            </a:r>
            <a:r>
              <a:rPr lang="en-US" i="1" dirty="0"/>
              <a:t>iteration</a:t>
            </a:r>
            <a:r>
              <a:rPr lang="en-US" dirty="0"/>
              <a:t> (repeating an instruction some number of times). </a:t>
            </a:r>
          </a:p>
        </p:txBody>
      </p:sp>
    </p:spTree>
    <p:extLst>
      <p:ext uri="{BB962C8B-B14F-4D97-AF65-F5344CB8AC3E}">
        <p14:creationId xmlns:p14="http://schemas.microsoft.com/office/powerpoint/2010/main" val="254770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BC28A-6609-A7EE-755F-BCE65714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5BEC-4030-A73E-5B6C-0354A909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B913-CFBE-5BDE-8AA4-2A678379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 An algorithm for making a cup of tea.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85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58EF-3098-5A77-E34A-FCB80F45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E4A5-6AE0-ACC4-92D9-B2572264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70F7-2C59-936E-E405-FEF65853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Example:  An algorithm for making a cup of tea.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Fill kettle with water</a:t>
            </a:r>
          </a:p>
          <a:p>
            <a:pPr marL="514350" indent="-514350">
              <a:buAutoNum type="arabicPeriod"/>
            </a:pPr>
            <a:r>
              <a:rPr lang="en-US" dirty="0"/>
              <a:t>Turn on kettle</a:t>
            </a:r>
          </a:p>
          <a:p>
            <a:pPr marL="514350" indent="-514350">
              <a:buAutoNum type="arabicPeriod"/>
            </a:pPr>
            <a:r>
              <a:rPr lang="en-US" dirty="0"/>
              <a:t>Put teabag in cup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Add milk</a:t>
            </a:r>
          </a:p>
          <a:p>
            <a:pPr marL="514350" indent="-514350">
              <a:buAutoNum type="arabicPeriod"/>
            </a:pPr>
            <a:r>
              <a:rPr lang="en-US" dirty="0"/>
              <a:t>If kettle has boiled then pour water into cup. </a:t>
            </a:r>
          </a:p>
          <a:p>
            <a:pPr marL="514350" indent="-514350">
              <a:buAutoNum type="arabicPeriod"/>
            </a:pPr>
            <a:r>
              <a:rPr lang="en-US" dirty="0"/>
              <a:t>Wait for tea to steep</a:t>
            </a:r>
          </a:p>
          <a:p>
            <a:pPr marL="514350" indent="-514350">
              <a:buAutoNum type="arabicPeriod"/>
            </a:pPr>
            <a:r>
              <a:rPr lang="en-US" dirty="0"/>
              <a:t>Remove teabag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7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AD40-F7E2-0D67-FBAC-42FBFE82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B6B2-70E0-48BA-73D7-D240286C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ADDAC-B5CC-5817-A153-E10BB106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10" y="17040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 An algorithm for making a cup of tea.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C282DC-EDE1-5E91-95D7-FADAD1C763D1}"/>
              </a:ext>
            </a:extLst>
          </p:cNvPr>
          <p:cNvSpPr/>
          <p:nvPr/>
        </p:nvSpPr>
        <p:spPr>
          <a:xfrm>
            <a:off x="838200" y="2583533"/>
            <a:ext cx="1247773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 tea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FA4B5-13E9-C3C7-CDEB-373B321516F5}"/>
              </a:ext>
            </a:extLst>
          </p:cNvPr>
          <p:cNvSpPr/>
          <p:nvPr/>
        </p:nvSpPr>
        <p:spPr>
          <a:xfrm>
            <a:off x="2776755" y="2354933"/>
            <a:ext cx="1247773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Fill kettle with water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D06FBB-D2AE-9CC5-17AA-63BFCA8F268F}"/>
              </a:ext>
            </a:extLst>
          </p:cNvPr>
          <p:cNvSpPr/>
          <p:nvPr/>
        </p:nvSpPr>
        <p:spPr>
          <a:xfrm>
            <a:off x="4715310" y="2365131"/>
            <a:ext cx="943709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Turn on kettle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4133FC-A8A7-EFE0-0AF1-7E4012EB540F}"/>
              </a:ext>
            </a:extLst>
          </p:cNvPr>
          <p:cNvSpPr/>
          <p:nvPr/>
        </p:nvSpPr>
        <p:spPr>
          <a:xfrm>
            <a:off x="6349801" y="2386929"/>
            <a:ext cx="1249975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 teabag in cup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19503-6F6B-79A1-8D84-4C15C5012FA6}"/>
              </a:ext>
            </a:extLst>
          </p:cNvPr>
          <p:cNvSpPr/>
          <p:nvPr/>
        </p:nvSpPr>
        <p:spPr>
          <a:xfrm>
            <a:off x="2776755" y="4205148"/>
            <a:ext cx="1077788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milk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62AF060D-B84D-A90A-E6EF-B8634B339DE6}"/>
              </a:ext>
            </a:extLst>
          </p:cNvPr>
          <p:cNvSpPr/>
          <p:nvPr/>
        </p:nvSpPr>
        <p:spPr>
          <a:xfrm>
            <a:off x="8290558" y="2023023"/>
            <a:ext cx="1673472" cy="1587012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kettle boiled?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587BBF-E600-5805-E596-CC8BDA3FA6BA}"/>
              </a:ext>
            </a:extLst>
          </p:cNvPr>
          <p:cNvSpPr/>
          <p:nvPr/>
        </p:nvSpPr>
        <p:spPr>
          <a:xfrm>
            <a:off x="10654811" y="2386929"/>
            <a:ext cx="139797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 30 seconds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F0724-92B1-01EB-746F-ABE00008E3B6}"/>
              </a:ext>
            </a:extLst>
          </p:cNvPr>
          <p:cNvSpPr/>
          <p:nvPr/>
        </p:nvSpPr>
        <p:spPr>
          <a:xfrm>
            <a:off x="8629981" y="4230783"/>
            <a:ext cx="1196301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Pour water into cup</a:t>
            </a:r>
          </a:p>
        </p:txBody>
      </p:sp>
      <p:sp>
        <p:nvSpPr>
          <p:cNvPr id="15" name="Decision 14">
            <a:extLst>
              <a:ext uri="{FF2B5EF4-FFF2-40B4-BE49-F238E27FC236}">
                <a16:creationId xmlns:a16="http://schemas.microsoft.com/office/drawing/2014/main" id="{EAB1AAB0-4447-2007-22BE-0E59D4AB3761}"/>
              </a:ext>
            </a:extLst>
          </p:cNvPr>
          <p:cNvSpPr/>
          <p:nvPr/>
        </p:nvSpPr>
        <p:spPr>
          <a:xfrm>
            <a:off x="6077387" y="3874295"/>
            <a:ext cx="1983396" cy="1587012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tea steeped?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D972C1-B09C-F1BE-95E0-EF9FAEB01346}"/>
              </a:ext>
            </a:extLst>
          </p:cNvPr>
          <p:cNvSpPr/>
          <p:nvPr/>
        </p:nvSpPr>
        <p:spPr>
          <a:xfrm>
            <a:off x="6370095" y="6025481"/>
            <a:ext cx="1397977" cy="612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 10 seconds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F9C24-2369-683B-6228-446F16F450FA}"/>
              </a:ext>
            </a:extLst>
          </p:cNvPr>
          <p:cNvSpPr/>
          <p:nvPr/>
        </p:nvSpPr>
        <p:spPr>
          <a:xfrm>
            <a:off x="4513562" y="4206205"/>
            <a:ext cx="99462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teabag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18DE44C-B6BA-53DF-6EC1-CA9C83C7672A}"/>
              </a:ext>
            </a:extLst>
          </p:cNvPr>
          <p:cNvSpPr/>
          <p:nvPr/>
        </p:nvSpPr>
        <p:spPr>
          <a:xfrm>
            <a:off x="752110" y="4341082"/>
            <a:ext cx="1397977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 is made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551062-A526-7F5F-B07A-365A15F10CD8}"/>
              </a:ext>
            </a:extLst>
          </p:cNvPr>
          <p:cNvCxnSpPr>
            <a:cxnSpLocks/>
          </p:cNvCxnSpPr>
          <p:nvPr/>
        </p:nvCxnSpPr>
        <p:spPr>
          <a:xfrm>
            <a:off x="2154115" y="2826727"/>
            <a:ext cx="585057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6F2114-8D03-A3E7-F4DE-5A54D38A9982}"/>
              </a:ext>
            </a:extLst>
          </p:cNvPr>
          <p:cNvCxnSpPr>
            <a:cxnSpLocks/>
          </p:cNvCxnSpPr>
          <p:nvPr/>
        </p:nvCxnSpPr>
        <p:spPr>
          <a:xfrm>
            <a:off x="4088423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570409-B41E-2321-459E-1B2964F01364}"/>
              </a:ext>
            </a:extLst>
          </p:cNvPr>
          <p:cNvCxnSpPr>
            <a:cxnSpLocks/>
          </p:cNvCxnSpPr>
          <p:nvPr/>
        </p:nvCxnSpPr>
        <p:spPr>
          <a:xfrm>
            <a:off x="5715290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46BDF2-C122-B5EA-8B03-FB84999CE96F}"/>
              </a:ext>
            </a:extLst>
          </p:cNvPr>
          <p:cNvCxnSpPr>
            <a:cxnSpLocks/>
          </p:cNvCxnSpPr>
          <p:nvPr/>
        </p:nvCxnSpPr>
        <p:spPr>
          <a:xfrm>
            <a:off x="7656047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5A48CF-B21F-5AFB-CD47-B47E419CA92C}"/>
              </a:ext>
            </a:extLst>
          </p:cNvPr>
          <p:cNvCxnSpPr>
            <a:cxnSpLocks/>
          </p:cNvCxnSpPr>
          <p:nvPr/>
        </p:nvCxnSpPr>
        <p:spPr>
          <a:xfrm>
            <a:off x="10055468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AF4841-07A0-A92D-63FF-D490F7B58887}"/>
              </a:ext>
            </a:extLst>
          </p:cNvPr>
          <p:cNvCxnSpPr>
            <a:cxnSpLocks/>
          </p:cNvCxnSpPr>
          <p:nvPr/>
        </p:nvCxnSpPr>
        <p:spPr>
          <a:xfrm>
            <a:off x="9139600" y="1469598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7AA584-FA03-39FE-14E0-33C6017CD827}"/>
              </a:ext>
            </a:extLst>
          </p:cNvPr>
          <p:cNvCxnSpPr>
            <a:cxnSpLocks/>
          </p:cNvCxnSpPr>
          <p:nvPr/>
        </p:nvCxnSpPr>
        <p:spPr>
          <a:xfrm>
            <a:off x="9127294" y="3653205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34B90F-23D1-0B25-B395-A1AC0251A44A}"/>
              </a:ext>
            </a:extLst>
          </p:cNvPr>
          <p:cNvCxnSpPr>
            <a:cxnSpLocks/>
          </p:cNvCxnSpPr>
          <p:nvPr/>
        </p:nvCxnSpPr>
        <p:spPr>
          <a:xfrm>
            <a:off x="7069084" y="5494277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B84D02-A7A2-D07F-2AAE-13DD39F3B271}"/>
              </a:ext>
            </a:extLst>
          </p:cNvPr>
          <p:cNvCxnSpPr>
            <a:cxnSpLocks/>
          </p:cNvCxnSpPr>
          <p:nvPr/>
        </p:nvCxnSpPr>
        <p:spPr>
          <a:xfrm flipH="1">
            <a:off x="5607515" y="4667801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1877BD-4655-E742-1E3A-8BAFB5441D9F}"/>
              </a:ext>
            </a:extLst>
          </p:cNvPr>
          <p:cNvCxnSpPr>
            <a:cxnSpLocks/>
          </p:cNvCxnSpPr>
          <p:nvPr/>
        </p:nvCxnSpPr>
        <p:spPr>
          <a:xfrm flipH="1">
            <a:off x="3980648" y="4616007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B86D970-3DE9-1C40-4F8F-57223C6BD2C9}"/>
              </a:ext>
            </a:extLst>
          </p:cNvPr>
          <p:cNvCxnSpPr>
            <a:cxnSpLocks/>
          </p:cNvCxnSpPr>
          <p:nvPr/>
        </p:nvCxnSpPr>
        <p:spPr>
          <a:xfrm flipH="1">
            <a:off x="2254166" y="4574078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D123E2-82BB-0CF2-CD64-17F392C554BD}"/>
              </a:ext>
            </a:extLst>
          </p:cNvPr>
          <p:cNvCxnSpPr>
            <a:cxnSpLocks/>
          </p:cNvCxnSpPr>
          <p:nvPr/>
        </p:nvCxnSpPr>
        <p:spPr>
          <a:xfrm flipV="1">
            <a:off x="11267710" y="1469598"/>
            <a:ext cx="0" cy="80266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9302D18-CD1D-2814-8CDD-390E25F81AC4}"/>
              </a:ext>
            </a:extLst>
          </p:cNvPr>
          <p:cNvCxnSpPr>
            <a:cxnSpLocks/>
          </p:cNvCxnSpPr>
          <p:nvPr/>
        </p:nvCxnSpPr>
        <p:spPr>
          <a:xfrm>
            <a:off x="9127294" y="1501472"/>
            <a:ext cx="2140416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FE03817-AE61-5242-F6BA-47F958ACE063}"/>
              </a:ext>
            </a:extLst>
          </p:cNvPr>
          <p:cNvCxnSpPr>
            <a:cxnSpLocks/>
          </p:cNvCxnSpPr>
          <p:nvPr/>
        </p:nvCxnSpPr>
        <p:spPr>
          <a:xfrm flipH="1">
            <a:off x="8118365" y="4667801"/>
            <a:ext cx="437055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A4625DB-25B5-D432-2952-CCF6F842F117}"/>
              </a:ext>
            </a:extLst>
          </p:cNvPr>
          <p:cNvCxnSpPr>
            <a:cxnSpLocks/>
          </p:cNvCxnSpPr>
          <p:nvPr/>
        </p:nvCxnSpPr>
        <p:spPr>
          <a:xfrm>
            <a:off x="7800962" y="6342730"/>
            <a:ext cx="519642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AB78D4-3236-69C1-03B9-859BF42104B5}"/>
              </a:ext>
            </a:extLst>
          </p:cNvPr>
          <p:cNvCxnSpPr>
            <a:cxnSpLocks/>
          </p:cNvCxnSpPr>
          <p:nvPr/>
        </p:nvCxnSpPr>
        <p:spPr>
          <a:xfrm flipH="1" flipV="1">
            <a:off x="7599776" y="5128340"/>
            <a:ext cx="712658" cy="121439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CA58A2-57E6-1C23-31E1-64FC8322B906}"/>
              </a:ext>
            </a:extLst>
          </p:cNvPr>
          <p:cNvSpPr txBox="1"/>
          <p:nvPr/>
        </p:nvSpPr>
        <p:spPr>
          <a:xfrm>
            <a:off x="10055467" y="2354933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24D12-2DCC-FF37-DAFF-865980FACEDC}"/>
              </a:ext>
            </a:extLst>
          </p:cNvPr>
          <p:cNvSpPr txBox="1"/>
          <p:nvPr/>
        </p:nvSpPr>
        <p:spPr>
          <a:xfrm>
            <a:off x="9301087" y="3647954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1591C2-63D0-B84C-82A1-37702FA8A259}"/>
              </a:ext>
            </a:extLst>
          </p:cNvPr>
          <p:cNvSpPr txBox="1"/>
          <p:nvPr/>
        </p:nvSpPr>
        <p:spPr>
          <a:xfrm>
            <a:off x="6516125" y="5486769"/>
            <a:ext cx="59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D6230D-4C37-FD7A-8E1B-EAB4FA1CFF4D}"/>
              </a:ext>
            </a:extLst>
          </p:cNvPr>
          <p:cNvSpPr txBox="1"/>
          <p:nvPr/>
        </p:nvSpPr>
        <p:spPr>
          <a:xfrm>
            <a:off x="5616590" y="4204746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70484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BFB1-0857-988C-4047-4A2521C7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8524-C52B-E556-60D4-D9A2717B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6F84-FF5F-C22E-C169-997C265EF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10" y="17040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 An algorithm for making a cup of tea.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212863-A943-37B7-6FF6-1C8C2259EB6A}"/>
              </a:ext>
            </a:extLst>
          </p:cNvPr>
          <p:cNvSpPr/>
          <p:nvPr/>
        </p:nvSpPr>
        <p:spPr>
          <a:xfrm>
            <a:off x="838200" y="2583533"/>
            <a:ext cx="1247773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 tea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CD867-9F53-22DC-7616-C422FA9DCC94}"/>
              </a:ext>
            </a:extLst>
          </p:cNvPr>
          <p:cNvSpPr/>
          <p:nvPr/>
        </p:nvSpPr>
        <p:spPr>
          <a:xfrm>
            <a:off x="2776755" y="2354933"/>
            <a:ext cx="1247773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Fill kettle with water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2C4C3-E667-DF6F-9BF5-1013CD72E16E}"/>
              </a:ext>
            </a:extLst>
          </p:cNvPr>
          <p:cNvSpPr/>
          <p:nvPr/>
        </p:nvSpPr>
        <p:spPr>
          <a:xfrm>
            <a:off x="4715310" y="2365131"/>
            <a:ext cx="943709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Turn on kettle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48C099-C1FD-3E62-06EB-57D58852BD43}"/>
              </a:ext>
            </a:extLst>
          </p:cNvPr>
          <p:cNvSpPr/>
          <p:nvPr/>
        </p:nvSpPr>
        <p:spPr>
          <a:xfrm>
            <a:off x="6349801" y="2386929"/>
            <a:ext cx="1249975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 teabag in cup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FFBE2043-8B6B-E4C9-7651-E0AA4F027AED}"/>
              </a:ext>
            </a:extLst>
          </p:cNvPr>
          <p:cNvSpPr/>
          <p:nvPr/>
        </p:nvSpPr>
        <p:spPr>
          <a:xfrm>
            <a:off x="8290558" y="2023023"/>
            <a:ext cx="1673472" cy="1587012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kettle boiled?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CB1C2-9774-5011-75CE-3CDC8E233A55}"/>
              </a:ext>
            </a:extLst>
          </p:cNvPr>
          <p:cNvSpPr/>
          <p:nvPr/>
        </p:nvSpPr>
        <p:spPr>
          <a:xfrm>
            <a:off x="10654811" y="2386929"/>
            <a:ext cx="139797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 30 seconds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99CEE-1FBB-F8C7-8A42-3BFAB003449A}"/>
              </a:ext>
            </a:extLst>
          </p:cNvPr>
          <p:cNvSpPr/>
          <p:nvPr/>
        </p:nvSpPr>
        <p:spPr>
          <a:xfrm>
            <a:off x="8629981" y="4230783"/>
            <a:ext cx="1196301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Pour water into cup</a:t>
            </a:r>
          </a:p>
        </p:txBody>
      </p:sp>
      <p:sp>
        <p:nvSpPr>
          <p:cNvPr id="15" name="Decision 14">
            <a:extLst>
              <a:ext uri="{FF2B5EF4-FFF2-40B4-BE49-F238E27FC236}">
                <a16:creationId xmlns:a16="http://schemas.microsoft.com/office/drawing/2014/main" id="{4F5D41A1-A0FA-8E17-0AB6-863F99A0E3F0}"/>
              </a:ext>
            </a:extLst>
          </p:cNvPr>
          <p:cNvSpPr/>
          <p:nvPr/>
        </p:nvSpPr>
        <p:spPr>
          <a:xfrm>
            <a:off x="6077387" y="3874295"/>
            <a:ext cx="1983396" cy="1587012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tea steeped?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0851C4-DA9B-67CE-B764-D47C704A01EF}"/>
              </a:ext>
            </a:extLst>
          </p:cNvPr>
          <p:cNvSpPr/>
          <p:nvPr/>
        </p:nvSpPr>
        <p:spPr>
          <a:xfrm>
            <a:off x="6370095" y="6025481"/>
            <a:ext cx="1397977" cy="612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 10 seconds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3838C6-2B20-7DD8-95B7-68A79F85D2E5}"/>
              </a:ext>
            </a:extLst>
          </p:cNvPr>
          <p:cNvSpPr/>
          <p:nvPr/>
        </p:nvSpPr>
        <p:spPr>
          <a:xfrm>
            <a:off x="4513562" y="4206205"/>
            <a:ext cx="99462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teabag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0D2E1E-7D6E-565D-DD97-7F0470318855}"/>
              </a:ext>
            </a:extLst>
          </p:cNvPr>
          <p:cNvSpPr/>
          <p:nvPr/>
        </p:nvSpPr>
        <p:spPr>
          <a:xfrm>
            <a:off x="4167268" y="5768447"/>
            <a:ext cx="1397977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 is made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08D3B6-3D2B-B493-18FD-77DBB6F923F7}"/>
              </a:ext>
            </a:extLst>
          </p:cNvPr>
          <p:cNvCxnSpPr>
            <a:cxnSpLocks/>
          </p:cNvCxnSpPr>
          <p:nvPr/>
        </p:nvCxnSpPr>
        <p:spPr>
          <a:xfrm>
            <a:off x="2154115" y="2826727"/>
            <a:ext cx="585057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D3603C-32C8-D8A7-4C14-E8AAC46DF886}"/>
              </a:ext>
            </a:extLst>
          </p:cNvPr>
          <p:cNvCxnSpPr>
            <a:cxnSpLocks/>
          </p:cNvCxnSpPr>
          <p:nvPr/>
        </p:nvCxnSpPr>
        <p:spPr>
          <a:xfrm>
            <a:off x="4088423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428C1C-CCFF-FAE1-FDDA-4EDB2968D79A}"/>
              </a:ext>
            </a:extLst>
          </p:cNvPr>
          <p:cNvCxnSpPr>
            <a:cxnSpLocks/>
          </p:cNvCxnSpPr>
          <p:nvPr/>
        </p:nvCxnSpPr>
        <p:spPr>
          <a:xfrm>
            <a:off x="5715290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E7CA64-DEE4-86EA-369C-9BAC1EEA394D}"/>
              </a:ext>
            </a:extLst>
          </p:cNvPr>
          <p:cNvCxnSpPr>
            <a:cxnSpLocks/>
          </p:cNvCxnSpPr>
          <p:nvPr/>
        </p:nvCxnSpPr>
        <p:spPr>
          <a:xfrm>
            <a:off x="7656047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40A01A-9DA0-E7B9-0C96-AB57C9182A66}"/>
              </a:ext>
            </a:extLst>
          </p:cNvPr>
          <p:cNvCxnSpPr>
            <a:cxnSpLocks/>
          </p:cNvCxnSpPr>
          <p:nvPr/>
        </p:nvCxnSpPr>
        <p:spPr>
          <a:xfrm>
            <a:off x="10055468" y="2820865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0F9387-9834-9382-A4C2-CD4715201AAE}"/>
              </a:ext>
            </a:extLst>
          </p:cNvPr>
          <p:cNvCxnSpPr>
            <a:cxnSpLocks/>
          </p:cNvCxnSpPr>
          <p:nvPr/>
        </p:nvCxnSpPr>
        <p:spPr>
          <a:xfrm>
            <a:off x="9139600" y="1469598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2BB892-946F-E3C7-E4F7-947F5C47E7AB}"/>
              </a:ext>
            </a:extLst>
          </p:cNvPr>
          <p:cNvCxnSpPr>
            <a:cxnSpLocks/>
          </p:cNvCxnSpPr>
          <p:nvPr/>
        </p:nvCxnSpPr>
        <p:spPr>
          <a:xfrm>
            <a:off x="9127294" y="3653205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410BC2-DF65-836B-9673-57F3A6DCE37B}"/>
              </a:ext>
            </a:extLst>
          </p:cNvPr>
          <p:cNvCxnSpPr>
            <a:cxnSpLocks/>
          </p:cNvCxnSpPr>
          <p:nvPr/>
        </p:nvCxnSpPr>
        <p:spPr>
          <a:xfrm>
            <a:off x="7069084" y="5494277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D1C10C-31DE-6F71-F7E6-C4371A576E16}"/>
              </a:ext>
            </a:extLst>
          </p:cNvPr>
          <p:cNvCxnSpPr>
            <a:cxnSpLocks/>
          </p:cNvCxnSpPr>
          <p:nvPr/>
        </p:nvCxnSpPr>
        <p:spPr>
          <a:xfrm flipH="1">
            <a:off x="5607515" y="4667801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E19E5F-2300-3A09-8B0C-A7A9BE62E86D}"/>
              </a:ext>
            </a:extLst>
          </p:cNvPr>
          <p:cNvCxnSpPr>
            <a:cxnSpLocks/>
          </p:cNvCxnSpPr>
          <p:nvPr/>
        </p:nvCxnSpPr>
        <p:spPr>
          <a:xfrm flipH="1">
            <a:off x="3980648" y="4616007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1BA1B7D-FD8A-DA63-0FA0-A456053C97AC}"/>
              </a:ext>
            </a:extLst>
          </p:cNvPr>
          <p:cNvCxnSpPr>
            <a:cxnSpLocks/>
          </p:cNvCxnSpPr>
          <p:nvPr/>
        </p:nvCxnSpPr>
        <p:spPr>
          <a:xfrm flipH="1">
            <a:off x="2254166" y="4574078"/>
            <a:ext cx="40744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FB1F7B-6982-22DF-60A5-2CA62EA8C959}"/>
              </a:ext>
            </a:extLst>
          </p:cNvPr>
          <p:cNvCxnSpPr>
            <a:cxnSpLocks/>
          </p:cNvCxnSpPr>
          <p:nvPr/>
        </p:nvCxnSpPr>
        <p:spPr>
          <a:xfrm flipV="1">
            <a:off x="11267710" y="1469598"/>
            <a:ext cx="0" cy="80266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857C21-FF34-8127-2AAF-8FA3FB7507A0}"/>
              </a:ext>
            </a:extLst>
          </p:cNvPr>
          <p:cNvCxnSpPr>
            <a:cxnSpLocks/>
          </p:cNvCxnSpPr>
          <p:nvPr/>
        </p:nvCxnSpPr>
        <p:spPr>
          <a:xfrm>
            <a:off x="9127294" y="1501472"/>
            <a:ext cx="2140416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509C28F-A4CA-F845-3C1D-196C32739D60}"/>
              </a:ext>
            </a:extLst>
          </p:cNvPr>
          <p:cNvCxnSpPr>
            <a:cxnSpLocks/>
          </p:cNvCxnSpPr>
          <p:nvPr/>
        </p:nvCxnSpPr>
        <p:spPr>
          <a:xfrm flipH="1">
            <a:off x="8118365" y="4667801"/>
            <a:ext cx="437055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7B7B5D-3B43-699C-FE56-483823CF00A3}"/>
              </a:ext>
            </a:extLst>
          </p:cNvPr>
          <p:cNvCxnSpPr>
            <a:cxnSpLocks/>
          </p:cNvCxnSpPr>
          <p:nvPr/>
        </p:nvCxnSpPr>
        <p:spPr>
          <a:xfrm>
            <a:off x="7800962" y="6342730"/>
            <a:ext cx="519642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CEAEA5-A03D-00B7-8D6C-0C076EF29D73}"/>
              </a:ext>
            </a:extLst>
          </p:cNvPr>
          <p:cNvCxnSpPr>
            <a:cxnSpLocks/>
          </p:cNvCxnSpPr>
          <p:nvPr/>
        </p:nvCxnSpPr>
        <p:spPr>
          <a:xfrm flipH="1" flipV="1">
            <a:off x="7599776" y="5128340"/>
            <a:ext cx="712658" cy="121439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53916-2170-51C0-E568-08E23F1CA200}"/>
              </a:ext>
            </a:extLst>
          </p:cNvPr>
          <p:cNvSpPr/>
          <p:nvPr/>
        </p:nvSpPr>
        <p:spPr>
          <a:xfrm>
            <a:off x="2885012" y="4167830"/>
            <a:ext cx="99462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fridge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683000-B2D4-1D08-61E0-CC80163BC30B}"/>
              </a:ext>
            </a:extLst>
          </p:cNvPr>
          <p:cNvSpPr/>
          <p:nvPr/>
        </p:nvSpPr>
        <p:spPr>
          <a:xfrm>
            <a:off x="924290" y="4112482"/>
            <a:ext cx="1161683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 milk from fridge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BF1C1E-75B6-BE61-FFF2-B33C3065A15E}"/>
              </a:ext>
            </a:extLst>
          </p:cNvPr>
          <p:cNvSpPr/>
          <p:nvPr/>
        </p:nvSpPr>
        <p:spPr>
          <a:xfrm>
            <a:off x="924290" y="5555373"/>
            <a:ext cx="994627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Pour milk into cup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CEAE1D-25B9-2E4C-4A40-19585D4B7991}"/>
              </a:ext>
            </a:extLst>
          </p:cNvPr>
          <p:cNvSpPr/>
          <p:nvPr/>
        </p:nvSpPr>
        <p:spPr>
          <a:xfrm>
            <a:off x="2488981" y="5544250"/>
            <a:ext cx="1147596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 milk back into fridge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D11AB1-ED71-EA33-8EEA-6487804F2C5F}"/>
              </a:ext>
            </a:extLst>
          </p:cNvPr>
          <p:cNvCxnSpPr>
            <a:cxnSpLocks/>
          </p:cNvCxnSpPr>
          <p:nvPr/>
        </p:nvCxnSpPr>
        <p:spPr>
          <a:xfrm>
            <a:off x="1483170" y="5052097"/>
            <a:ext cx="0" cy="4421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81F7F3-BF39-0117-D998-09ABE195439C}"/>
              </a:ext>
            </a:extLst>
          </p:cNvPr>
          <p:cNvCxnSpPr>
            <a:cxnSpLocks/>
          </p:cNvCxnSpPr>
          <p:nvPr/>
        </p:nvCxnSpPr>
        <p:spPr>
          <a:xfrm>
            <a:off x="1961637" y="5953591"/>
            <a:ext cx="46669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E77609B-082C-A7B4-AB4B-78CFE17BCBB7}"/>
              </a:ext>
            </a:extLst>
          </p:cNvPr>
          <p:cNvCxnSpPr>
            <a:cxnSpLocks/>
          </p:cNvCxnSpPr>
          <p:nvPr/>
        </p:nvCxnSpPr>
        <p:spPr>
          <a:xfrm>
            <a:off x="3670471" y="5968837"/>
            <a:ext cx="41833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1F696E2-EBD7-663A-64F3-F73DAE77D18E}"/>
              </a:ext>
            </a:extLst>
          </p:cNvPr>
          <p:cNvSpPr txBox="1"/>
          <p:nvPr/>
        </p:nvSpPr>
        <p:spPr>
          <a:xfrm>
            <a:off x="10055467" y="2354933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FE3B1-0DE0-1E19-D42D-CD24664CB10C}"/>
              </a:ext>
            </a:extLst>
          </p:cNvPr>
          <p:cNvSpPr txBox="1"/>
          <p:nvPr/>
        </p:nvSpPr>
        <p:spPr>
          <a:xfrm>
            <a:off x="9301087" y="3647954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313CE-5741-8026-8EB0-5CE5BAE9B35A}"/>
              </a:ext>
            </a:extLst>
          </p:cNvPr>
          <p:cNvSpPr txBox="1"/>
          <p:nvPr/>
        </p:nvSpPr>
        <p:spPr>
          <a:xfrm>
            <a:off x="6516125" y="5486769"/>
            <a:ext cx="59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8B87C-3148-ED77-3391-5597E25F291A}"/>
              </a:ext>
            </a:extLst>
          </p:cNvPr>
          <p:cNvSpPr txBox="1"/>
          <p:nvPr/>
        </p:nvSpPr>
        <p:spPr>
          <a:xfrm>
            <a:off x="5616590" y="4204746"/>
            <a:ext cx="525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92688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80A9-C6EE-DA1E-73D9-1842F684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6E28-099A-F4E8-11DB-A1B01046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1144-E82E-90AD-AF48-22442A92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10" y="17040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 An algorithm for making a cup of tea.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29EBFDC-F668-AA39-12AE-F693912FA7C1}"/>
              </a:ext>
            </a:extLst>
          </p:cNvPr>
          <p:cNvSpPr/>
          <p:nvPr/>
        </p:nvSpPr>
        <p:spPr>
          <a:xfrm>
            <a:off x="838200" y="2583533"/>
            <a:ext cx="1247773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Make tea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CC9F86-C414-3853-1DF1-0764D227AD7F}"/>
              </a:ext>
            </a:extLst>
          </p:cNvPr>
          <p:cNvSpPr/>
          <p:nvPr/>
        </p:nvSpPr>
        <p:spPr>
          <a:xfrm>
            <a:off x="3003669" y="2399263"/>
            <a:ext cx="943709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Boil kettle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A2EF3-A350-9184-C222-37F82810B639}"/>
              </a:ext>
            </a:extLst>
          </p:cNvPr>
          <p:cNvSpPr/>
          <p:nvPr/>
        </p:nvSpPr>
        <p:spPr>
          <a:xfrm>
            <a:off x="4733485" y="2399263"/>
            <a:ext cx="1249975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 teabag in cup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B827C-B373-1A29-CEDD-EBEDA5028B0E}"/>
              </a:ext>
            </a:extLst>
          </p:cNvPr>
          <p:cNvSpPr/>
          <p:nvPr/>
        </p:nvSpPr>
        <p:spPr>
          <a:xfrm>
            <a:off x="6732452" y="2399263"/>
            <a:ext cx="1196301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Pour water into cup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A30C45-F29A-6574-B8E3-9214A8AD2610}"/>
              </a:ext>
            </a:extLst>
          </p:cNvPr>
          <p:cNvSpPr/>
          <p:nvPr/>
        </p:nvSpPr>
        <p:spPr>
          <a:xfrm>
            <a:off x="10134230" y="2627863"/>
            <a:ext cx="1397977" cy="4659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 is made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F966EF-9DFD-3E5D-6C17-B32251857242}"/>
              </a:ext>
            </a:extLst>
          </p:cNvPr>
          <p:cNvCxnSpPr>
            <a:cxnSpLocks/>
          </p:cNvCxnSpPr>
          <p:nvPr/>
        </p:nvCxnSpPr>
        <p:spPr>
          <a:xfrm>
            <a:off x="2154115" y="2860859"/>
            <a:ext cx="585057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D0AFD8-040B-89D7-F652-E0AC01E3E863}"/>
              </a:ext>
            </a:extLst>
          </p:cNvPr>
          <p:cNvCxnSpPr>
            <a:cxnSpLocks/>
          </p:cNvCxnSpPr>
          <p:nvPr/>
        </p:nvCxnSpPr>
        <p:spPr>
          <a:xfrm>
            <a:off x="4088423" y="2860859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CC1D0D-2EBF-CA36-5A28-946DF8B5DBF2}"/>
              </a:ext>
            </a:extLst>
          </p:cNvPr>
          <p:cNvCxnSpPr>
            <a:cxnSpLocks/>
          </p:cNvCxnSpPr>
          <p:nvPr/>
        </p:nvCxnSpPr>
        <p:spPr>
          <a:xfrm>
            <a:off x="6009910" y="2860859"/>
            <a:ext cx="599343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9D604DF-A66B-5735-1F5C-E61721CD2E4F}"/>
              </a:ext>
            </a:extLst>
          </p:cNvPr>
          <p:cNvCxnSpPr>
            <a:cxnSpLocks/>
          </p:cNvCxnSpPr>
          <p:nvPr/>
        </p:nvCxnSpPr>
        <p:spPr>
          <a:xfrm>
            <a:off x="7992126" y="2860859"/>
            <a:ext cx="41833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FBC4F4-A0D3-1682-B5B7-BD6E5C8B2212}"/>
              </a:ext>
            </a:extLst>
          </p:cNvPr>
          <p:cNvSpPr/>
          <p:nvPr/>
        </p:nvSpPr>
        <p:spPr>
          <a:xfrm>
            <a:off x="8473835" y="2399263"/>
            <a:ext cx="1077788" cy="92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milk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B971EF-6EC3-B04D-DAD7-F60C64FD61DF}"/>
              </a:ext>
            </a:extLst>
          </p:cNvPr>
          <p:cNvCxnSpPr>
            <a:cxnSpLocks/>
          </p:cNvCxnSpPr>
          <p:nvPr/>
        </p:nvCxnSpPr>
        <p:spPr>
          <a:xfrm>
            <a:off x="9636995" y="2860859"/>
            <a:ext cx="418336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792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D572-E903-680F-CC64-4455C922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EC38-E697-643D-C5B9-8030B34D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367C7-941E-297B-7BEF-F5B2B0154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38112"/>
          </a:xfrm>
        </p:spPr>
        <p:txBody>
          <a:bodyPr>
            <a:normAutofit/>
          </a:bodyPr>
          <a:lstStyle/>
          <a:p>
            <a:r>
              <a:rPr lang="en-US" dirty="0"/>
              <a:t>In this course, we won’t just be </a:t>
            </a:r>
            <a:r>
              <a:rPr lang="en-US" i="1" dirty="0"/>
              <a:t>following</a:t>
            </a:r>
            <a:r>
              <a:rPr lang="en-US" dirty="0"/>
              <a:t> algorithms, but also </a:t>
            </a:r>
            <a:r>
              <a:rPr lang="en-US" i="1" dirty="0"/>
              <a:t>designing them. </a:t>
            </a:r>
          </a:p>
          <a:p>
            <a:r>
              <a:rPr lang="en-US" dirty="0"/>
              <a:t>Typically, this means breaking a larger job down into a sequence of smaller steps. </a:t>
            </a:r>
          </a:p>
          <a:p>
            <a:pPr lvl="1"/>
            <a:r>
              <a:rPr lang="en-US" dirty="0"/>
              <a:t>We may do this </a:t>
            </a:r>
            <a:r>
              <a:rPr lang="en-US" i="1" dirty="0"/>
              <a:t>iteratively- </a:t>
            </a:r>
            <a:r>
              <a:rPr lang="en-US" dirty="0" err="1"/>
              <a:t>e.g</a:t>
            </a:r>
            <a:r>
              <a:rPr lang="en-US" dirty="0"/>
              <a:t> we may need to break some of our “smaller steps” into separate tasks.</a:t>
            </a:r>
          </a:p>
          <a:p>
            <a:pPr lvl="1"/>
            <a:r>
              <a:rPr lang="en-US" dirty="0"/>
              <a:t>Often we will make use of </a:t>
            </a:r>
            <a:r>
              <a:rPr lang="en-US" i="1" dirty="0"/>
              <a:t>decisions</a:t>
            </a:r>
            <a:r>
              <a:rPr lang="en-US" dirty="0"/>
              <a:t> (using some criteria to decide which instruction should be done next) and </a:t>
            </a:r>
            <a:r>
              <a:rPr lang="en-US" i="1" dirty="0"/>
              <a:t>iteration</a:t>
            </a:r>
            <a:r>
              <a:rPr lang="en-US" dirty="0"/>
              <a:t> (repeating an instruction some number of times).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41838-5D76-CC9C-46A9-54F1428FA0BB}"/>
              </a:ext>
            </a:extLst>
          </p:cNvPr>
          <p:cNvSpPr txBox="1"/>
          <p:nvPr/>
        </p:nvSpPr>
        <p:spPr>
          <a:xfrm>
            <a:off x="838200" y="5634232"/>
            <a:ext cx="10816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Q: When do we </a:t>
            </a:r>
            <a:r>
              <a:rPr lang="en-US" sz="2800" b="1" i="1" dirty="0"/>
              <a:t>stop</a:t>
            </a:r>
            <a:r>
              <a:rPr lang="en-US" sz="2800" b="1" dirty="0"/>
              <a:t> breaking things down into smaller steps?</a:t>
            </a:r>
          </a:p>
        </p:txBody>
      </p:sp>
    </p:spTree>
    <p:extLst>
      <p:ext uri="{BB962C8B-B14F-4D97-AF65-F5344CB8AC3E}">
        <p14:creationId xmlns:p14="http://schemas.microsoft.com/office/powerpoint/2010/main" val="1317102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3B0D-60BD-4B08-54BE-500958D2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6A19-0D37-B23C-8B8F-DE4F8A00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B7128-9998-0676-8CCA-F61932CA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groups, discuss (~5 minutes) and develop an algorithm for the following task: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have an unsorted list of numbers: [0, 4, 5, 1, 8, 7, -1]. You are only allowed to look at one number at a time. How can I find the highest and lowest numbers in my list?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Share a summary of your algorithm on Menti, code: 4154 2054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3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77E4-E80E-811C-8DFF-9CFB59B0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F599-782D-6197-1AC5-7B98DCBC1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consists of a number of separate electronic devices that together can perform a vast number of algorithms.</a:t>
            </a:r>
          </a:p>
        </p:txBody>
      </p:sp>
      <p:pic>
        <p:nvPicPr>
          <p:cNvPr id="3074" name="Picture 2" descr="Computer and Device Defense - How Computers Work - The Carnegie Cyber  Academy - An Online Safety site and Games for Kids">
            <a:extLst>
              <a:ext uri="{FF2B5EF4-FFF2-40B4-BE49-F238E27FC236}">
                <a16:creationId xmlns:a16="http://schemas.microsoft.com/office/drawing/2014/main" id="{0A1B1091-893D-C170-87C2-6FBF15BF6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685" y="2767833"/>
            <a:ext cx="4762631" cy="354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47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45F6-CDE6-7CE3-F3BA-C7996BF5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DEAC-12B6-0360-CA58-B972CD93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32DC6-4EAA-CE9A-897F-39969990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consists of a number of separate electronic devices that together can perform a vast number of algorithms.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E23D17-4A3D-C255-2EF6-B9C45B2A9595}"/>
              </a:ext>
            </a:extLst>
          </p:cNvPr>
          <p:cNvGrpSpPr/>
          <p:nvPr/>
        </p:nvGrpSpPr>
        <p:grpSpPr>
          <a:xfrm>
            <a:off x="2251794" y="3138135"/>
            <a:ext cx="7688412" cy="2869474"/>
            <a:chOff x="1766484" y="2765730"/>
            <a:chExt cx="8659032" cy="381617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7ABB19E-6FB0-B176-286C-6ABDBEF51D49}"/>
                </a:ext>
              </a:extLst>
            </p:cNvPr>
            <p:cNvSpPr>
              <a:spLocks/>
            </p:cNvSpPr>
            <p:nvPr/>
          </p:nvSpPr>
          <p:spPr>
            <a:xfrm>
              <a:off x="5286000" y="276573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 (RAM)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310242E-8A91-F8D9-FA8D-521B83AB7FFD}"/>
                </a:ext>
              </a:extLst>
            </p:cNvPr>
            <p:cNvSpPr>
              <a:spLocks/>
            </p:cNvSpPr>
            <p:nvPr/>
          </p:nvSpPr>
          <p:spPr>
            <a:xfrm>
              <a:off x="1766484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Input Devices 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7F0F8B2-5070-4551-E406-D42B2BFEE698}"/>
                </a:ext>
              </a:extLst>
            </p:cNvPr>
            <p:cNvSpPr>
              <a:spLocks/>
            </p:cNvSpPr>
            <p:nvPr/>
          </p:nvSpPr>
          <p:spPr>
            <a:xfrm>
              <a:off x="8805516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Output Devices 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008D9AB-C0B4-9189-80E4-CA3668F66088}"/>
                </a:ext>
              </a:extLst>
            </p:cNvPr>
            <p:cNvSpPr>
              <a:spLocks/>
            </p:cNvSpPr>
            <p:nvPr/>
          </p:nvSpPr>
          <p:spPr>
            <a:xfrm>
              <a:off x="5286000" y="604190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Storage</a:t>
              </a:r>
            </a:p>
            <a:p>
              <a:pPr algn="ctr"/>
              <a:r>
                <a:rPr lang="en-US" sz="1200" dirty="0"/>
                <a:t>(Hard Drive)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CC5328C-1724-064C-1F0E-92694BB13BB8}"/>
                </a:ext>
              </a:extLst>
            </p:cNvPr>
            <p:cNvSpPr>
              <a:spLocks/>
            </p:cNvSpPr>
            <p:nvPr/>
          </p:nvSpPr>
          <p:spPr>
            <a:xfrm>
              <a:off x="5286000" y="4083590"/>
              <a:ext cx="1620000" cy="108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Central Processing Unit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5E276AFC-B27A-45E9-00DD-6149604F8125}"/>
                </a:ext>
              </a:extLst>
            </p:cNvPr>
            <p:cNvSpPr/>
            <p:nvPr/>
          </p:nvSpPr>
          <p:spPr>
            <a:xfrm>
              <a:off x="3616242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D4BA4056-898B-0ECA-7434-C16B369F5BC5}"/>
                </a:ext>
              </a:extLst>
            </p:cNvPr>
            <p:cNvSpPr/>
            <p:nvPr/>
          </p:nvSpPr>
          <p:spPr>
            <a:xfrm>
              <a:off x="7135758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807293-9CF3-3947-E7DB-7F3E644AB37B}"/>
                </a:ext>
              </a:extLst>
            </p:cNvPr>
            <p:cNvGrpSpPr/>
            <p:nvPr/>
          </p:nvGrpSpPr>
          <p:grpSpPr>
            <a:xfrm>
              <a:off x="5719622" y="3436511"/>
              <a:ext cx="752755" cy="540000"/>
              <a:chOff x="5719622" y="3436511"/>
              <a:chExt cx="752755" cy="540000"/>
            </a:xfrm>
            <a:noFill/>
          </p:grpSpPr>
          <p:sp>
            <p:nvSpPr>
              <p:cNvPr id="14" name="Right Arrow 13">
                <a:extLst>
                  <a:ext uri="{FF2B5EF4-FFF2-40B4-BE49-F238E27FC236}">
                    <a16:creationId xmlns:a16="http://schemas.microsoft.com/office/drawing/2014/main" id="{285D76AA-32F8-DB59-FB74-D466D6080C77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B19321F6-B263-5C99-5E06-149983BDC60E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A10443-A9A4-D314-D64B-67353F282975}"/>
                </a:ext>
              </a:extLst>
            </p:cNvPr>
            <p:cNvGrpSpPr/>
            <p:nvPr/>
          </p:nvGrpSpPr>
          <p:grpSpPr>
            <a:xfrm>
              <a:off x="5719623" y="5332745"/>
              <a:ext cx="752755" cy="540000"/>
              <a:chOff x="5719622" y="3436511"/>
              <a:chExt cx="752755" cy="540000"/>
            </a:xfrm>
          </p:grpSpPr>
          <p:sp>
            <p:nvSpPr>
              <p:cNvPr id="18" name="Right Arrow 17">
                <a:extLst>
                  <a:ext uri="{FF2B5EF4-FFF2-40B4-BE49-F238E27FC236}">
                    <a16:creationId xmlns:a16="http://schemas.microsoft.com/office/drawing/2014/main" id="{B22358CC-3F6C-851B-5B37-22B35D7D596A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ight Arrow 18">
                <a:extLst>
                  <a:ext uri="{FF2B5EF4-FFF2-40B4-BE49-F238E27FC236}">
                    <a16:creationId xmlns:a16="http://schemas.microsoft.com/office/drawing/2014/main" id="{9CE69C54-5202-DB71-01ED-3413A61A6988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805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F7EE-D3C7-D738-33DF-50CC6259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D09E-E127-E8BD-54F6-863A0560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2DF9F-335B-D07B-D26F-F00D42F0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86161" cy="2455762"/>
          </a:xfrm>
        </p:spPr>
        <p:txBody>
          <a:bodyPr>
            <a:normAutofit/>
          </a:bodyPr>
          <a:lstStyle/>
          <a:p>
            <a:r>
              <a:rPr lang="en-US" dirty="0"/>
              <a:t>A computer consists of several separate electronic devices that together can perform a vast number of algorithms.</a:t>
            </a:r>
          </a:p>
          <a:p>
            <a:pPr lvl="1"/>
            <a:r>
              <a:rPr lang="en-US" dirty="0"/>
              <a:t>Input (</a:t>
            </a:r>
            <a:r>
              <a:rPr lang="en-US" dirty="0" err="1"/>
              <a:t>i.e</a:t>
            </a:r>
            <a:r>
              <a:rPr lang="en-US" dirty="0"/>
              <a:t> mouse / keyboard / touchscreen) and output (monitor)</a:t>
            </a:r>
          </a:p>
          <a:p>
            <a:pPr lvl="1"/>
            <a:r>
              <a:rPr lang="en-US" dirty="0"/>
              <a:t>Memory for storing data</a:t>
            </a:r>
          </a:p>
          <a:p>
            <a:pPr lvl="1"/>
            <a:r>
              <a:rPr lang="en-US" dirty="0"/>
              <a:t>A central processing unit “CPU” can electronically perform a limited number of operations.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0AF9065-E8E9-6497-FC8D-BA6A12DC273C}"/>
              </a:ext>
            </a:extLst>
          </p:cNvPr>
          <p:cNvGrpSpPr/>
          <p:nvPr/>
        </p:nvGrpSpPr>
        <p:grpSpPr>
          <a:xfrm>
            <a:off x="3385650" y="4103888"/>
            <a:ext cx="5420700" cy="2388987"/>
            <a:chOff x="1766484" y="2765730"/>
            <a:chExt cx="8659032" cy="381617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8DA315E-F985-6BBF-DDF5-F0CF7BEB7E43}"/>
                </a:ext>
              </a:extLst>
            </p:cNvPr>
            <p:cNvSpPr>
              <a:spLocks/>
            </p:cNvSpPr>
            <p:nvPr/>
          </p:nvSpPr>
          <p:spPr>
            <a:xfrm>
              <a:off x="5286000" y="276573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 (RAM)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55BA5DB-A7F7-C7B6-A9F4-79D3BA4CBC78}"/>
                </a:ext>
              </a:extLst>
            </p:cNvPr>
            <p:cNvSpPr>
              <a:spLocks/>
            </p:cNvSpPr>
            <p:nvPr/>
          </p:nvSpPr>
          <p:spPr>
            <a:xfrm>
              <a:off x="1766484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Input Devices 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13B55A19-1180-097E-E0AE-E806FF864686}"/>
                </a:ext>
              </a:extLst>
            </p:cNvPr>
            <p:cNvSpPr>
              <a:spLocks/>
            </p:cNvSpPr>
            <p:nvPr/>
          </p:nvSpPr>
          <p:spPr>
            <a:xfrm>
              <a:off x="8805516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Output Devices 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6A73090-F60F-9B9F-67E2-07DC25131905}"/>
                </a:ext>
              </a:extLst>
            </p:cNvPr>
            <p:cNvSpPr>
              <a:spLocks/>
            </p:cNvSpPr>
            <p:nvPr/>
          </p:nvSpPr>
          <p:spPr>
            <a:xfrm>
              <a:off x="5286000" y="604190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Storage</a:t>
              </a:r>
            </a:p>
            <a:p>
              <a:pPr algn="ctr"/>
              <a:r>
                <a:rPr lang="en-US" sz="1200" dirty="0"/>
                <a:t>(Hard Drive)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A0278E6-6A40-E925-FC9E-34482AB7EE71}"/>
                </a:ext>
              </a:extLst>
            </p:cNvPr>
            <p:cNvSpPr>
              <a:spLocks/>
            </p:cNvSpPr>
            <p:nvPr/>
          </p:nvSpPr>
          <p:spPr>
            <a:xfrm>
              <a:off x="5286000" y="4083590"/>
              <a:ext cx="1620000" cy="108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Central Processing Unit</a:t>
              </a:r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447B6F05-B104-741D-3E84-8514B02F599B}"/>
                </a:ext>
              </a:extLst>
            </p:cNvPr>
            <p:cNvSpPr/>
            <p:nvPr/>
          </p:nvSpPr>
          <p:spPr>
            <a:xfrm>
              <a:off x="3616242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E3E5A151-EC44-4620-0447-DC5A8D4040FD}"/>
                </a:ext>
              </a:extLst>
            </p:cNvPr>
            <p:cNvSpPr/>
            <p:nvPr/>
          </p:nvSpPr>
          <p:spPr>
            <a:xfrm>
              <a:off x="7135758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A515FA8-2C57-8320-F245-FD84948F54D4}"/>
                </a:ext>
              </a:extLst>
            </p:cNvPr>
            <p:cNvGrpSpPr/>
            <p:nvPr/>
          </p:nvGrpSpPr>
          <p:grpSpPr>
            <a:xfrm>
              <a:off x="5719622" y="3436511"/>
              <a:ext cx="752755" cy="540000"/>
              <a:chOff x="5719622" y="3436511"/>
              <a:chExt cx="752755" cy="540000"/>
            </a:xfrm>
            <a:noFill/>
          </p:grpSpPr>
          <p:sp>
            <p:nvSpPr>
              <p:cNvPr id="30" name="Right Arrow 29">
                <a:extLst>
                  <a:ext uri="{FF2B5EF4-FFF2-40B4-BE49-F238E27FC236}">
                    <a16:creationId xmlns:a16="http://schemas.microsoft.com/office/drawing/2014/main" id="{0C3AFCF3-8A56-27D4-3530-56217DB450ED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ight Arrow 30">
                <a:extLst>
                  <a:ext uri="{FF2B5EF4-FFF2-40B4-BE49-F238E27FC236}">
                    <a16:creationId xmlns:a16="http://schemas.microsoft.com/office/drawing/2014/main" id="{4475CA09-10D2-0E54-7573-5A7F2C6FDE39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E7114B-D8FE-1965-8B00-F29AA5366E82}"/>
                </a:ext>
              </a:extLst>
            </p:cNvPr>
            <p:cNvGrpSpPr/>
            <p:nvPr/>
          </p:nvGrpSpPr>
          <p:grpSpPr>
            <a:xfrm>
              <a:off x="5719623" y="5332745"/>
              <a:ext cx="752755" cy="540000"/>
              <a:chOff x="5719622" y="3436511"/>
              <a:chExt cx="752755" cy="540000"/>
            </a:xfrm>
          </p:grpSpPr>
          <p:sp>
            <p:nvSpPr>
              <p:cNvPr id="28" name="Right Arrow 27">
                <a:extLst>
                  <a:ext uri="{FF2B5EF4-FFF2-40B4-BE49-F238E27FC236}">
                    <a16:creationId xmlns:a16="http://schemas.microsoft.com/office/drawing/2014/main" id="{9DDE2CAF-1988-F67E-1B3F-7825CA006568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ight Arrow 28">
                <a:extLst>
                  <a:ext uri="{FF2B5EF4-FFF2-40B4-BE49-F238E27FC236}">
                    <a16:creationId xmlns:a16="http://schemas.microsoft.com/office/drawing/2014/main" id="{3AEE612E-48E1-2F34-7978-7223BC33EE3F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1570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0EA8-987D-B9A2-B02F-2E4D4447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127F-6056-21F8-5BCB-3A57318E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983B8-43D1-E770-C478-E4C99300AB4C}"/>
              </a:ext>
            </a:extLst>
          </p:cNvPr>
          <p:cNvSpPr txBox="1"/>
          <p:nvPr/>
        </p:nvSpPr>
        <p:spPr>
          <a:xfrm>
            <a:off x="923544" y="1527048"/>
            <a:ext cx="10177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Memory is used to store information. We can think (for now) of memory as a large number of boxes that can be used to store data. Each piece of data stored in memory has: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value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data type (integer, string, Boolean, </a:t>
            </a:r>
            <a:r>
              <a:rPr lang="en-US" sz="2800" dirty="0" err="1"/>
              <a:t>etc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78202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AC30-2B9D-124C-5F42-3198C66F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4A0B-4E99-C52D-7F91-57D6B4CC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8ECF5-5518-509A-A46E-5169D22A32F7}"/>
              </a:ext>
            </a:extLst>
          </p:cNvPr>
          <p:cNvSpPr txBox="1"/>
          <p:nvPr/>
        </p:nvSpPr>
        <p:spPr>
          <a:xfrm>
            <a:off x="923544" y="1527048"/>
            <a:ext cx="10177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Memory is used to store information. We can think (for now) of memory as a large number of boxes that can be used to store data. Each piece of data stored in memory has: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value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data type (integer, string, Boolean, </a:t>
            </a:r>
            <a:r>
              <a:rPr lang="en-US" sz="2800" dirty="0" err="1"/>
              <a:t>etc</a:t>
            </a:r>
            <a:r>
              <a:rPr lang="en-US" sz="2800" dirty="0"/>
              <a:t>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5893F5-94B4-9E33-12C2-160B8FAF3328}"/>
              </a:ext>
            </a:extLst>
          </p:cNvPr>
          <p:cNvGrpSpPr/>
          <p:nvPr/>
        </p:nvGrpSpPr>
        <p:grpSpPr>
          <a:xfrm>
            <a:off x="2966301" y="4204704"/>
            <a:ext cx="6259398" cy="2385619"/>
            <a:chOff x="3181452" y="4204704"/>
            <a:chExt cx="6259398" cy="238561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DA3A554-AF4E-1AF3-3FA5-D1224CA8A6C1}"/>
                </a:ext>
              </a:extLst>
            </p:cNvPr>
            <p:cNvSpPr/>
            <p:nvPr/>
          </p:nvSpPr>
          <p:spPr>
            <a:xfrm>
              <a:off x="3181452" y="4695534"/>
              <a:ext cx="6259398" cy="1894789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2A266A-0E96-9CA0-7877-FFC47BDDD82F}"/>
                </a:ext>
              </a:extLst>
            </p:cNvPr>
            <p:cNvSpPr txBox="1"/>
            <p:nvPr/>
          </p:nvSpPr>
          <p:spPr>
            <a:xfrm>
              <a:off x="5722709" y="4204704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CBCC72-C285-6B34-5666-A99D794E203F}"/>
              </a:ext>
            </a:extLst>
          </p:cNvPr>
          <p:cNvSpPr/>
          <p:nvPr/>
        </p:nvSpPr>
        <p:spPr>
          <a:xfrm>
            <a:off x="3669290" y="4950058"/>
            <a:ext cx="2460396" cy="13857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Name: a</a:t>
            </a:r>
          </a:p>
          <a:p>
            <a:pPr algn="ctr"/>
            <a:r>
              <a:rPr lang="en-US" dirty="0"/>
              <a:t>Value: 3</a:t>
            </a:r>
          </a:p>
          <a:p>
            <a:pPr algn="ctr"/>
            <a:r>
              <a:rPr lang="en-US" dirty="0"/>
              <a:t>Type: Integer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048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8A6C-C696-8507-4F7E-CA802CAB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E2B0-4889-96B1-3EF6-FC84289C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0C38E-6F37-5680-BB3F-E927FEC8791B}"/>
              </a:ext>
            </a:extLst>
          </p:cNvPr>
          <p:cNvSpPr txBox="1"/>
          <p:nvPr/>
        </p:nvSpPr>
        <p:spPr>
          <a:xfrm>
            <a:off x="923544" y="1527048"/>
            <a:ext cx="10177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Memory is used to store information. We can think (for now) of memory as a large number of boxes that can be used to store data. Each piece of data stored in memory has: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value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 data type (integer, string, Boolean, </a:t>
            </a:r>
            <a:r>
              <a:rPr lang="en-US" sz="2800" dirty="0" err="1"/>
              <a:t>etc</a:t>
            </a:r>
            <a:r>
              <a:rPr lang="en-US" sz="2800" dirty="0"/>
              <a:t>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1700FD-2641-07F1-CA41-8B4688D75F66}"/>
              </a:ext>
            </a:extLst>
          </p:cNvPr>
          <p:cNvGrpSpPr/>
          <p:nvPr/>
        </p:nvGrpSpPr>
        <p:grpSpPr>
          <a:xfrm>
            <a:off x="2966301" y="4204704"/>
            <a:ext cx="6259398" cy="2385619"/>
            <a:chOff x="3181452" y="4204704"/>
            <a:chExt cx="6259398" cy="238561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5A25DEA-CF06-5326-BD71-BFF1C724DD46}"/>
                </a:ext>
              </a:extLst>
            </p:cNvPr>
            <p:cNvSpPr/>
            <p:nvPr/>
          </p:nvSpPr>
          <p:spPr>
            <a:xfrm>
              <a:off x="3181452" y="4695534"/>
              <a:ext cx="6259398" cy="1894789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83C68B-4137-FD59-4431-D484A5DD8980}"/>
                </a:ext>
              </a:extLst>
            </p:cNvPr>
            <p:cNvSpPr txBox="1"/>
            <p:nvPr/>
          </p:nvSpPr>
          <p:spPr>
            <a:xfrm>
              <a:off x="5722709" y="4204704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CC904D-FBD8-E8E1-4776-D6E440A59F22}"/>
              </a:ext>
            </a:extLst>
          </p:cNvPr>
          <p:cNvGrpSpPr/>
          <p:nvPr/>
        </p:nvGrpSpPr>
        <p:grpSpPr>
          <a:xfrm>
            <a:off x="3669290" y="4950058"/>
            <a:ext cx="5283723" cy="1385740"/>
            <a:chOff x="5161176" y="1489434"/>
            <a:chExt cx="5283723" cy="138574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2D38CF4-A984-72EE-3D79-7405BFC3BA56}"/>
                </a:ext>
              </a:extLst>
            </p:cNvPr>
            <p:cNvSpPr/>
            <p:nvPr/>
          </p:nvSpPr>
          <p:spPr>
            <a:xfrm>
              <a:off x="5161176" y="1489434"/>
              <a:ext cx="2460396" cy="13857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Name: a</a:t>
              </a:r>
            </a:p>
            <a:p>
              <a:pPr algn="ctr"/>
              <a:r>
                <a:rPr lang="en-US" dirty="0"/>
                <a:t>Value: 3</a:t>
              </a:r>
            </a:p>
            <a:p>
              <a:pPr algn="ctr"/>
              <a:r>
                <a:rPr lang="en-US" dirty="0"/>
                <a:t>Type: Integer</a:t>
              </a:r>
            </a:p>
            <a:p>
              <a:pPr algn="ctr"/>
              <a:endParaRPr lang="en-US" dirty="0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9C7A671-4420-19BF-6069-58431567BF52}"/>
                </a:ext>
              </a:extLst>
            </p:cNvPr>
            <p:cNvSpPr/>
            <p:nvPr/>
          </p:nvSpPr>
          <p:spPr>
            <a:xfrm>
              <a:off x="7984503" y="1489434"/>
              <a:ext cx="2460396" cy="13857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Name: b</a:t>
              </a:r>
            </a:p>
            <a:p>
              <a:pPr algn="ctr"/>
              <a:r>
                <a:rPr lang="en-US" dirty="0"/>
                <a:t>Value: 2</a:t>
              </a:r>
            </a:p>
            <a:p>
              <a:pPr algn="ctr"/>
              <a:r>
                <a:rPr lang="en-US" dirty="0"/>
                <a:t>Type: Integer</a:t>
              </a:r>
            </a:p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95602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832E6-DFA8-4BE5-27AA-67F1A5B3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B650-8B0E-A3FF-6C78-02287698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3262-84F7-D0BF-38A6-92353020C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consists of a number of separate electronic devices that together can perform a vast number of algorithms.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2459CD-6E1B-0E3C-9899-0FD4F0B17A60}"/>
              </a:ext>
            </a:extLst>
          </p:cNvPr>
          <p:cNvGrpSpPr/>
          <p:nvPr/>
        </p:nvGrpSpPr>
        <p:grpSpPr>
          <a:xfrm>
            <a:off x="2251794" y="3138135"/>
            <a:ext cx="7688412" cy="2869474"/>
            <a:chOff x="1766484" y="2765730"/>
            <a:chExt cx="8659032" cy="381617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B3B1AC9-4B47-F582-7465-B93A871046D2}"/>
                </a:ext>
              </a:extLst>
            </p:cNvPr>
            <p:cNvSpPr>
              <a:spLocks/>
            </p:cNvSpPr>
            <p:nvPr/>
          </p:nvSpPr>
          <p:spPr>
            <a:xfrm>
              <a:off x="5286000" y="276573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Memory (RAM)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743097B-8876-93D2-877F-0992326DD337}"/>
                </a:ext>
              </a:extLst>
            </p:cNvPr>
            <p:cNvSpPr>
              <a:spLocks/>
            </p:cNvSpPr>
            <p:nvPr/>
          </p:nvSpPr>
          <p:spPr>
            <a:xfrm>
              <a:off x="1766484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Input Devices 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03DB853-BC00-821E-7ADE-87015EB33973}"/>
                </a:ext>
              </a:extLst>
            </p:cNvPr>
            <p:cNvSpPr>
              <a:spLocks/>
            </p:cNvSpPr>
            <p:nvPr/>
          </p:nvSpPr>
          <p:spPr>
            <a:xfrm>
              <a:off x="8805516" y="435359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Output Devices 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64A13C9-FCF5-95B5-9C29-AAFA1DDD7F1B}"/>
                </a:ext>
              </a:extLst>
            </p:cNvPr>
            <p:cNvSpPr>
              <a:spLocks/>
            </p:cNvSpPr>
            <p:nvPr/>
          </p:nvSpPr>
          <p:spPr>
            <a:xfrm>
              <a:off x="5286000" y="6041900"/>
              <a:ext cx="16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Storage</a:t>
              </a:r>
            </a:p>
            <a:p>
              <a:pPr algn="ctr"/>
              <a:r>
                <a:rPr lang="en-US" sz="1200" dirty="0"/>
                <a:t>(Hard Drive)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6573E06-0DD9-174A-8B3A-1D2A53EE3868}"/>
                </a:ext>
              </a:extLst>
            </p:cNvPr>
            <p:cNvSpPr>
              <a:spLocks/>
            </p:cNvSpPr>
            <p:nvPr/>
          </p:nvSpPr>
          <p:spPr>
            <a:xfrm>
              <a:off x="5286000" y="4083590"/>
              <a:ext cx="1620000" cy="108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Central Processing Unit</a:t>
              </a:r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C6D2D98-8EAE-8D3B-65AC-F5EA0F681D53}"/>
                </a:ext>
              </a:extLst>
            </p:cNvPr>
            <p:cNvSpPr/>
            <p:nvPr/>
          </p:nvSpPr>
          <p:spPr>
            <a:xfrm>
              <a:off x="3616242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D31FC89B-A20A-B6FC-48FE-CA7C7A583640}"/>
                </a:ext>
              </a:extLst>
            </p:cNvPr>
            <p:cNvSpPr/>
            <p:nvPr/>
          </p:nvSpPr>
          <p:spPr>
            <a:xfrm>
              <a:off x="7135758" y="4519190"/>
              <a:ext cx="1440000" cy="208800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029536E-E4BE-7629-8E8A-BBA18C6CEA22}"/>
                </a:ext>
              </a:extLst>
            </p:cNvPr>
            <p:cNvGrpSpPr/>
            <p:nvPr/>
          </p:nvGrpSpPr>
          <p:grpSpPr>
            <a:xfrm>
              <a:off x="5719622" y="3436511"/>
              <a:ext cx="752755" cy="540000"/>
              <a:chOff x="5719622" y="3436511"/>
              <a:chExt cx="752755" cy="540000"/>
            </a:xfrm>
            <a:noFill/>
          </p:grpSpPr>
          <p:sp>
            <p:nvSpPr>
              <p:cNvPr id="14" name="Right Arrow 13">
                <a:extLst>
                  <a:ext uri="{FF2B5EF4-FFF2-40B4-BE49-F238E27FC236}">
                    <a16:creationId xmlns:a16="http://schemas.microsoft.com/office/drawing/2014/main" id="{79D36E83-B98D-6B98-FB2B-C52EADEFBFC1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63AEA78C-87B4-3404-194D-78E8C361C9B7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61B24A9-2EF9-511B-D301-5EFCBEEA8CF7}"/>
                </a:ext>
              </a:extLst>
            </p:cNvPr>
            <p:cNvGrpSpPr/>
            <p:nvPr/>
          </p:nvGrpSpPr>
          <p:grpSpPr>
            <a:xfrm>
              <a:off x="5719623" y="5332745"/>
              <a:ext cx="752755" cy="540000"/>
              <a:chOff x="5719622" y="3436511"/>
              <a:chExt cx="752755" cy="540000"/>
            </a:xfrm>
          </p:grpSpPr>
          <p:sp>
            <p:nvSpPr>
              <p:cNvPr id="18" name="Right Arrow 17">
                <a:extLst>
                  <a:ext uri="{FF2B5EF4-FFF2-40B4-BE49-F238E27FC236}">
                    <a16:creationId xmlns:a16="http://schemas.microsoft.com/office/drawing/2014/main" id="{7AB1C62D-C862-C734-424A-13252A9F8AD4}"/>
                  </a:ext>
                </a:extLst>
              </p:cNvPr>
              <p:cNvSpPr/>
              <p:nvPr/>
            </p:nvSpPr>
            <p:spPr>
              <a:xfrm rot="5400000">
                <a:off x="5554726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ight Arrow 18">
                <a:extLst>
                  <a:ext uri="{FF2B5EF4-FFF2-40B4-BE49-F238E27FC236}">
                    <a16:creationId xmlns:a16="http://schemas.microsoft.com/office/drawing/2014/main" id="{9EDBB78F-12A8-9AF7-6260-2398368DE7C6}"/>
                  </a:ext>
                </a:extLst>
              </p:cNvPr>
              <p:cNvSpPr/>
              <p:nvPr/>
            </p:nvSpPr>
            <p:spPr>
              <a:xfrm rot="16200000">
                <a:off x="6097274" y="3601407"/>
                <a:ext cx="540000" cy="210207"/>
              </a:xfrm>
              <a:prstGeom prst="rightArrow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63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086F-088E-D944-5B7D-489234F0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A147-CF45-2D3F-0568-170DAC8C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756BA-E0B5-6531-0FCF-D53621651F67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electronically perform a limited number of instructions. </a:t>
            </a:r>
          </a:p>
        </p:txBody>
      </p:sp>
    </p:spTree>
    <p:extLst>
      <p:ext uri="{BB962C8B-B14F-4D97-AF65-F5344CB8AC3E}">
        <p14:creationId xmlns:p14="http://schemas.microsoft.com/office/powerpoint/2010/main" val="1781179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60D1-65A0-75DB-D872-6D4F6BB7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3625-D0BB-906D-11CF-A46B81C5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80F1C2-933E-0BC7-A088-1EB69406BACC}"/>
              </a:ext>
            </a:extLst>
          </p:cNvPr>
          <p:cNvSpPr txBox="1"/>
          <p:nvPr/>
        </p:nvSpPr>
        <p:spPr>
          <a:xfrm>
            <a:off x="923544" y="1527048"/>
            <a:ext cx="101772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electronically perform a limited number of instructions. These are:</a:t>
            </a:r>
          </a:p>
          <a:p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</p:txBody>
      </p:sp>
      <p:pic>
        <p:nvPicPr>
          <p:cNvPr id="41" name="Picture 4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6912690-0B8D-E770-EE3E-889E8AE2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92" y="2073833"/>
            <a:ext cx="2425288" cy="18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63C1-DFD1-E7A3-2DD4-143762BA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DEB2-0E2D-E7F4-CECE-3B7FE1C0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F822F-739F-97B0-066F-737AB5E38D8F}"/>
              </a:ext>
            </a:extLst>
          </p:cNvPr>
          <p:cNvSpPr txBox="1"/>
          <p:nvPr/>
        </p:nvSpPr>
        <p:spPr>
          <a:xfrm>
            <a:off x="923544" y="1527048"/>
            <a:ext cx="1017727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electronically perform a limited number of instructions. These are:</a:t>
            </a:r>
          </a:p>
          <a:p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pPr lvl="1"/>
            <a:endParaRPr lang="en-US" sz="2800" dirty="0"/>
          </a:p>
          <a:p>
            <a:r>
              <a:rPr lang="en-US" sz="2800" dirty="0"/>
              <a:t>A computer program is a list of these instructions. The CPU will execute each instruction in the list sequentially, using a special </a:t>
            </a:r>
            <a:r>
              <a:rPr lang="en-US" sz="2800" i="1" dirty="0"/>
              <a:t>program counter</a:t>
            </a:r>
            <a:r>
              <a:rPr lang="en-US" sz="2800" dirty="0"/>
              <a:t> variable to keep track of which line should be executed next. </a:t>
            </a:r>
          </a:p>
        </p:txBody>
      </p:sp>
      <p:pic>
        <p:nvPicPr>
          <p:cNvPr id="41" name="Picture 4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2E7BF55-277D-40A1-E352-CCBED745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384" y="2276056"/>
            <a:ext cx="2425288" cy="18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37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65E5-60BC-232F-B9C4-16C9BC5D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53A7-33AA-D4B4-ECAA-93036632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266E38-AF8C-014A-5E40-DC876107907A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A6433666-4A48-67D9-695D-6D2F41A6A689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6B1ADF-13BF-D963-941F-2106511ED9A5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976174-F952-977D-490D-D6EED74E920E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1121791" y="395926"/>
              <a:chExt cx="3761296" cy="3033074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265AC75-1FC7-F870-AAD6-5518E52C4177}"/>
                  </a:ext>
                </a:extLst>
              </p:cNvPr>
              <p:cNvGrpSpPr/>
              <p:nvPr/>
            </p:nvGrpSpPr>
            <p:grpSpPr>
              <a:xfrm>
                <a:off x="1121791" y="395926"/>
                <a:ext cx="3761296" cy="3033074"/>
                <a:chOff x="4207110" y="914400"/>
                <a:chExt cx="3819260" cy="2282283"/>
              </a:xfrm>
            </p:grpSpPr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D7DD60EB-AFD4-4D68-CA66-824DFF19420B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8F21D30-3FF6-64C1-F0C9-5E45D333B5D0}"/>
                    </a:ext>
                  </a:extLst>
                </p:cNvPr>
                <p:cNvSpPr txBox="1"/>
                <p:nvPr/>
              </p:nvSpPr>
              <p:spPr>
                <a:xfrm>
                  <a:off x="5582238" y="914400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37" name="Picture 36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41F70E05-9838-8217-B80C-9A740FEC6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8986288-E7E5-696E-C54C-90C73156AAA5}"/>
                </a:ext>
              </a:extLst>
            </p:cNvPr>
            <p:cNvSpPr/>
            <p:nvPr/>
          </p:nvSpPr>
          <p:spPr>
            <a:xfrm>
              <a:off x="5406273" y="1206135"/>
              <a:ext cx="2460396" cy="4430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Program Counter: 1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5CA1FA1-17D2-FF5E-732E-7A3FD853E838}"/>
              </a:ext>
            </a:extLst>
          </p:cNvPr>
          <p:cNvSpPr txBox="1"/>
          <p:nvPr/>
        </p:nvSpPr>
        <p:spPr>
          <a:xfrm>
            <a:off x="923544" y="1527048"/>
            <a:ext cx="101772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83233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E351-4AC1-D2CA-5D92-02C58D2D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304C-D538-5A2E-B24F-3979817F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289483-7B02-F2B8-9162-A0276F258B20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B336671-38AC-4249-2BB8-F5BE40238E08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50AFD7-855E-2388-5B48-528253E39151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715D2DF-E29D-D1CB-1EEB-719722C2F66D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1121791" y="395926"/>
              <a:chExt cx="3761296" cy="3033074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D031778-58CA-BC8A-D495-A9611EF43C2E}"/>
                  </a:ext>
                </a:extLst>
              </p:cNvPr>
              <p:cNvGrpSpPr/>
              <p:nvPr/>
            </p:nvGrpSpPr>
            <p:grpSpPr>
              <a:xfrm>
                <a:off x="1121791" y="395926"/>
                <a:ext cx="3761296" cy="3033074"/>
                <a:chOff x="4207110" y="914400"/>
                <a:chExt cx="3819260" cy="2282283"/>
              </a:xfrm>
            </p:grpSpPr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4F764D2F-51FA-4FE7-6B9B-1E68F1308F38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60CFBA1-8203-4530-C293-70435D96A0F6}"/>
                    </a:ext>
                  </a:extLst>
                </p:cNvPr>
                <p:cNvSpPr txBox="1"/>
                <p:nvPr/>
              </p:nvSpPr>
              <p:spPr>
                <a:xfrm>
                  <a:off x="5582238" y="914400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37" name="Picture 36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8E40E285-992F-BA85-7ED6-3C9E42921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92B933-0D68-E628-96E3-DD3E66B912D4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973224"/>
              <a:chOff x="5335571" y="1319753"/>
              <a:chExt cx="2460396" cy="973224"/>
            </a:xfrm>
          </p:grpSpPr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DBB9F8C2-ABCA-397C-C8AF-150173C811FB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2</a:t>
                </a:r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7E36DA02-7B20-D5CD-0226-3B2C7C8B7EE0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137385-CA26-6F43-F6B6-F56781D05EAA}"/>
              </a:ext>
            </a:extLst>
          </p:cNvPr>
          <p:cNvSpPr txBox="1"/>
          <p:nvPr/>
        </p:nvSpPr>
        <p:spPr>
          <a:xfrm>
            <a:off x="923544" y="1527048"/>
            <a:ext cx="101772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pPr lvl="1"/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1026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31D9-C8A8-489B-AF40-879DB799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DD04-D5E4-5152-40D7-87D59E4D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D54AD3-022C-B392-89E0-772468CEE201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58AACDE-3B0A-77A3-7B05-1235C92F4446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785120-9C52-1BD2-7BB1-0E0254F8CB4A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973FDA9-0092-3D13-AF68-B52B80FFFF23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1121791" y="395926"/>
              <a:chExt cx="3761296" cy="3033074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AFD97B4-87F3-3B74-5F89-B5A5AB248610}"/>
                  </a:ext>
                </a:extLst>
              </p:cNvPr>
              <p:cNvGrpSpPr/>
              <p:nvPr/>
            </p:nvGrpSpPr>
            <p:grpSpPr>
              <a:xfrm>
                <a:off x="1121791" y="395926"/>
                <a:ext cx="3761296" cy="3033074"/>
                <a:chOff x="4207110" y="914400"/>
                <a:chExt cx="3819260" cy="2282283"/>
              </a:xfrm>
            </p:grpSpPr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801FB895-1009-E15C-433E-2704FB74A80C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5FB99F0-4268-E11D-D426-D8AE3AA08BDC}"/>
                    </a:ext>
                  </a:extLst>
                </p:cNvPr>
                <p:cNvSpPr txBox="1"/>
                <p:nvPr/>
              </p:nvSpPr>
              <p:spPr>
                <a:xfrm>
                  <a:off x="5582238" y="914400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37" name="Picture 36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6093CA2F-BF85-C913-AE10-B5DF70207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FFFB52C-C6E5-7159-1560-BB81F410E0D6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1503389"/>
              <a:chOff x="5335571" y="1319753"/>
              <a:chExt cx="2460396" cy="1503389"/>
            </a:xfrm>
          </p:grpSpPr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D8F858A6-E26C-4DCB-0EFD-5BC8FD846D94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3</a:t>
                </a:r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66E7D6C4-718F-75FD-A7ED-12930DB2553A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1CFD26E9-261E-022B-CBC8-55C84E7CD638}"/>
                  </a:ext>
                </a:extLst>
              </p:cNvPr>
              <p:cNvSpPr/>
              <p:nvPr/>
            </p:nvSpPr>
            <p:spPr>
              <a:xfrm>
                <a:off x="5335571" y="238008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b: 2</a:t>
                </a:r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3D99C2D-91D3-FA96-AFB7-F84D8657AA4D}"/>
              </a:ext>
            </a:extLst>
          </p:cNvPr>
          <p:cNvSpPr txBox="1"/>
          <p:nvPr/>
        </p:nvSpPr>
        <p:spPr>
          <a:xfrm>
            <a:off x="923544" y="1527048"/>
            <a:ext cx="101772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659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6E7C-8756-2B0B-D40F-2D44C4AE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6602-A5F2-8D14-07C3-D6ADF89A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6E3495-D0FB-B10A-14D6-0FC89CB3C446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DCCB25A-56A1-96F4-3C9A-F7BEDDD6C9EB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C45C51-B782-0504-E677-9287D6025095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9C8E1C2-A8A5-2516-EB61-D2D4B14CF02C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1121791" y="395926"/>
              <a:chExt cx="3761296" cy="3033074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8D778D0-E6CD-2ED7-998F-90930E97E9C0}"/>
                  </a:ext>
                </a:extLst>
              </p:cNvPr>
              <p:cNvGrpSpPr/>
              <p:nvPr/>
            </p:nvGrpSpPr>
            <p:grpSpPr>
              <a:xfrm>
                <a:off x="1121791" y="395926"/>
                <a:ext cx="3761296" cy="3033074"/>
                <a:chOff x="4207110" y="914400"/>
                <a:chExt cx="3819260" cy="2282283"/>
              </a:xfrm>
            </p:grpSpPr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8EC7AA2A-BEB5-090B-F6AA-928CAA77871C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4A92656-0393-7772-F05E-A52912000392}"/>
                    </a:ext>
                  </a:extLst>
                </p:cNvPr>
                <p:cNvSpPr txBox="1"/>
                <p:nvPr/>
              </p:nvSpPr>
              <p:spPr>
                <a:xfrm>
                  <a:off x="5582238" y="914400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37" name="Picture 36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336FF303-A669-62ED-2556-9FA097D08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4084482-756F-3C42-95BC-1510F25CB01D}"/>
                </a:ext>
              </a:extLst>
            </p:cNvPr>
            <p:cNvGrpSpPr/>
            <p:nvPr/>
          </p:nvGrpSpPr>
          <p:grpSpPr>
            <a:xfrm>
              <a:off x="5406273" y="1206134"/>
              <a:ext cx="5156460" cy="2027848"/>
              <a:chOff x="5335571" y="1206134"/>
              <a:chExt cx="5156460" cy="2027848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FCB09B5-560E-0353-94A5-26C8AD86F8FA}"/>
                  </a:ext>
                </a:extLst>
              </p:cNvPr>
              <p:cNvGrpSpPr/>
              <p:nvPr/>
            </p:nvGrpSpPr>
            <p:grpSpPr>
              <a:xfrm>
                <a:off x="5335571" y="1206135"/>
                <a:ext cx="2460396" cy="2027847"/>
                <a:chOff x="5335571" y="1319753"/>
                <a:chExt cx="2460396" cy="2027847"/>
              </a:xfrm>
            </p:grpSpPr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37AE38D3-4A30-9CEB-3883-4602C0E5A4C0}"/>
                    </a:ext>
                  </a:extLst>
                </p:cNvPr>
                <p:cNvSpPr/>
                <p:nvPr/>
              </p:nvSpPr>
              <p:spPr>
                <a:xfrm>
                  <a:off x="5335571" y="131975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Program Counter: 8</a:t>
                  </a:r>
                </a:p>
              </p:txBody>
            </p:sp>
            <p:sp>
              <p:nvSpPr>
                <p:cNvPr id="33" name="Rounded Rectangle 32">
                  <a:extLst>
                    <a:ext uri="{FF2B5EF4-FFF2-40B4-BE49-F238E27FC236}">
                      <a16:creationId xmlns:a16="http://schemas.microsoft.com/office/drawing/2014/main" id="{D3334EAB-91B3-9BEA-28F1-9DDDDA347437}"/>
                    </a:ext>
                  </a:extLst>
                </p:cNvPr>
                <p:cNvSpPr/>
                <p:nvPr/>
              </p:nvSpPr>
              <p:spPr>
                <a:xfrm>
                  <a:off x="5335571" y="1849918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a: 1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110FEE1C-5142-DC3C-5AD8-50CC9437CD7E}"/>
                    </a:ext>
                  </a:extLst>
                </p:cNvPr>
                <p:cNvSpPr/>
                <p:nvPr/>
              </p:nvSpPr>
              <p:spPr>
                <a:xfrm>
                  <a:off x="5335571" y="238008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b: 2</a:t>
                  </a:r>
                </a:p>
              </p:txBody>
            </p:sp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id="{6127322B-A9BB-495E-79B9-85C92E5981D8}"/>
                    </a:ext>
                  </a:extLst>
                </p:cNvPr>
                <p:cNvSpPr/>
                <p:nvPr/>
              </p:nvSpPr>
              <p:spPr>
                <a:xfrm>
                  <a:off x="5335571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c: 3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488B446-4E06-E95C-3F8E-CD704DEE8A89}"/>
                  </a:ext>
                </a:extLst>
              </p:cNvPr>
              <p:cNvGrpSpPr/>
              <p:nvPr/>
            </p:nvGrpSpPr>
            <p:grpSpPr>
              <a:xfrm>
                <a:off x="8031635" y="1206134"/>
                <a:ext cx="2460396" cy="2027848"/>
                <a:chOff x="8031635" y="1319752"/>
                <a:chExt cx="2460396" cy="2027848"/>
              </a:xfrm>
            </p:grpSpPr>
            <p:sp>
              <p:nvSpPr>
                <p:cNvPr id="28" name="Rounded Rectangle 27">
                  <a:extLst>
                    <a:ext uri="{FF2B5EF4-FFF2-40B4-BE49-F238E27FC236}">
                      <a16:creationId xmlns:a16="http://schemas.microsoft.com/office/drawing/2014/main" id="{A5D01CC3-5126-111A-6FB5-7867B5A9198E}"/>
                    </a:ext>
                  </a:extLst>
                </p:cNvPr>
                <p:cNvSpPr/>
                <p:nvPr/>
              </p:nvSpPr>
              <p:spPr>
                <a:xfrm>
                  <a:off x="8031635" y="131975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d: 4</a:t>
                  </a:r>
                </a:p>
              </p:txBody>
            </p:sp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AA09EE88-51E8-59C1-7752-28CC7B79A603}"/>
                    </a:ext>
                  </a:extLst>
                </p:cNvPr>
                <p:cNvSpPr/>
                <p:nvPr/>
              </p:nvSpPr>
              <p:spPr>
                <a:xfrm>
                  <a:off x="8031635" y="1849916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sum1: 3</a:t>
                  </a:r>
                </a:p>
              </p:txBody>
            </p:sp>
            <p:sp>
              <p:nvSpPr>
                <p:cNvPr id="30" name="Rounded Rectangle 29">
                  <a:extLst>
                    <a:ext uri="{FF2B5EF4-FFF2-40B4-BE49-F238E27FC236}">
                      <a16:creationId xmlns:a16="http://schemas.microsoft.com/office/drawing/2014/main" id="{708D56E6-AE63-CF8F-FDB2-EE98F0566996}"/>
                    </a:ext>
                  </a:extLst>
                </p:cNvPr>
                <p:cNvSpPr/>
                <p:nvPr/>
              </p:nvSpPr>
              <p:spPr>
                <a:xfrm>
                  <a:off x="8031635" y="237518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sum2: 7</a:t>
                  </a:r>
                </a:p>
              </p:txBody>
            </p:sp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D6337315-389D-1DE6-B69B-CD9681EAF834}"/>
                    </a:ext>
                  </a:extLst>
                </p:cNvPr>
                <p:cNvSpPr/>
                <p:nvPr/>
              </p:nvSpPr>
              <p:spPr>
                <a:xfrm>
                  <a:off x="8031635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total: 10</a:t>
                  </a:r>
                </a:p>
              </p:txBody>
            </p:sp>
          </p:grp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8A13262-6060-8D41-95E1-E78928950998}"/>
              </a:ext>
            </a:extLst>
          </p:cNvPr>
          <p:cNvSpPr txBox="1"/>
          <p:nvPr/>
        </p:nvSpPr>
        <p:spPr>
          <a:xfrm>
            <a:off x="923544" y="1527048"/>
            <a:ext cx="1017727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pPr lvl="1"/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4897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CF5A-1041-6CBA-E36C-0A44C087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D9CF-0B6D-555A-3D45-EAD67B15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A01C1A-71C7-A2D5-C26E-F09CAED073B8}"/>
              </a:ext>
            </a:extLst>
          </p:cNvPr>
          <p:cNvSpPr txBox="1"/>
          <p:nvPr/>
        </p:nvSpPr>
        <p:spPr>
          <a:xfrm>
            <a:off x="923544" y="1527048"/>
            <a:ext cx="1017727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multiply,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dirty="0"/>
              <a:t>A computer program is a list of these instructions. The CPU will execute each instruction in the list sequentially, using a special </a:t>
            </a:r>
            <a:r>
              <a:rPr lang="en-US" sz="2800" i="1" dirty="0"/>
              <a:t>program counter</a:t>
            </a:r>
            <a:r>
              <a:rPr lang="en-US" sz="2800" dirty="0"/>
              <a:t> variable to keep track of which instruction should be executed next. </a:t>
            </a:r>
          </a:p>
          <a:p>
            <a:endParaRPr lang="en-US" sz="2800" dirty="0"/>
          </a:p>
          <a:p>
            <a:r>
              <a:rPr lang="en-US" sz="2800" dirty="0"/>
              <a:t>The program counter can be written to like  any other piece of memory- this allows us to perform selection and iteration.</a:t>
            </a:r>
          </a:p>
        </p:txBody>
      </p:sp>
    </p:spTree>
    <p:extLst>
      <p:ext uri="{BB962C8B-B14F-4D97-AF65-F5344CB8AC3E}">
        <p14:creationId xmlns:p14="http://schemas.microsoft.com/office/powerpoint/2010/main" val="1089495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347B-2949-45C4-B7E8-6488A14D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0624-EF88-A8D4-6158-D88FE75D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A84D0E-4129-6F1D-092A-B78E06440B54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program counter can be written to like  any other piece of memory- this allows us to perform selection and iteration.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FCEF85-DBCB-F428-01FA-1B0B67E3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9" y="4292505"/>
            <a:ext cx="2252730" cy="206586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DE419BA-B006-5C1B-E397-C6D3715BAB2E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96BB1B4-67CD-246A-6621-D917CA262B5D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20D22B-B42D-B5EA-D55F-7A5488EFD6E4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48C36A8-C4D2-6E6D-8097-B26C4970160D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4207110" y="914400"/>
              <a:chExt cx="3819260" cy="228228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628A99FE-24AA-2C90-FC19-BF123007B8C9}"/>
                  </a:ext>
                </a:extLst>
              </p:cNvPr>
              <p:cNvSpPr/>
              <p:nvPr/>
            </p:nvSpPr>
            <p:spPr>
              <a:xfrm>
                <a:off x="4207110" y="1377310"/>
                <a:ext cx="3819260" cy="181937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480957-D922-3317-4C1F-99C66FEACDE9}"/>
                  </a:ext>
                </a:extLst>
              </p:cNvPr>
              <p:cNvSpPr txBox="1"/>
              <p:nvPr/>
            </p:nvSpPr>
            <p:spPr>
              <a:xfrm>
                <a:off x="5582238" y="914400"/>
                <a:ext cx="1027522" cy="27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Program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49CFAB-0D1A-953D-E8BC-F412E77AB868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1503389"/>
              <a:chOff x="5335571" y="1319753"/>
              <a:chExt cx="2460396" cy="1503389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33CE3A4A-5601-2CEA-3ED8-A4417CE22A32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3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EAE4547-1ABB-62C6-D09E-E660F6F81A93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F92AE2DC-3813-EA58-8AD8-7E9862FB7EA2}"/>
                  </a:ext>
                </a:extLst>
              </p:cNvPr>
              <p:cNvSpPr/>
              <p:nvPr/>
            </p:nvSpPr>
            <p:spPr>
              <a:xfrm>
                <a:off x="5335571" y="238008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b: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8819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4B83-86D2-AE13-C67F-0D0D9427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348D-245B-1ADC-D319-F4CFA3B11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760896-730D-D16B-3013-93D9548ED6D4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program counter can be written to like  any other piece of memory- this allows us to perform selection and iteration.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E30A21-B694-BFA7-0935-034A5AD24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9" y="4292505"/>
            <a:ext cx="2252730" cy="206586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6C5DB70-DC94-AE5A-AFA0-FFA27B4113BF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3BB6BA4-2CD7-918E-5348-2981C44DD325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88D132-AE52-66B3-3727-E08DA372CD2B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968DDF-C2DC-0ADA-54FB-0AC23339DE07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4207110" y="914400"/>
              <a:chExt cx="3819260" cy="228228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15EE442-AF8D-3B2F-E386-5C5781A42948}"/>
                  </a:ext>
                </a:extLst>
              </p:cNvPr>
              <p:cNvSpPr/>
              <p:nvPr/>
            </p:nvSpPr>
            <p:spPr>
              <a:xfrm>
                <a:off x="4207110" y="1377310"/>
                <a:ext cx="3819260" cy="181937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7B3A43-5B14-D990-3F2A-AF8EFAE33310}"/>
                  </a:ext>
                </a:extLst>
              </p:cNvPr>
              <p:cNvSpPr txBox="1"/>
              <p:nvPr/>
            </p:nvSpPr>
            <p:spPr>
              <a:xfrm>
                <a:off x="5582238" y="914400"/>
                <a:ext cx="1027522" cy="27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Program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663365A-52E3-FC81-AFA6-51982BE93D50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1503389"/>
              <a:chOff x="5335571" y="1319753"/>
              <a:chExt cx="2460396" cy="1503389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D684070A-F715-344F-256A-EDB9A0883AAA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6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C083BF0-B843-DDA2-35F6-742AF8C6EC6C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0FEE6FA7-673F-21D7-CA5F-442076C6C5D6}"/>
                  </a:ext>
                </a:extLst>
              </p:cNvPr>
              <p:cNvSpPr/>
              <p:nvPr/>
            </p:nvSpPr>
            <p:spPr>
              <a:xfrm>
                <a:off x="5335571" y="238008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b: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9710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C3C5-F3E2-D5CC-447C-FFE4CDC8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0C18-716A-0417-F42B-188A9264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B28F3F-68D0-066C-8B57-C33EF7CB7AA4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program counter can be written to like  any other piece of memory- this allows us to perform selection and iteration.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D399AF-3F5D-61EF-675A-CEC8BBEC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9" y="4292505"/>
            <a:ext cx="2252730" cy="206586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A2C3696-CB09-7C33-38EC-D7185C012CF7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734AFD8-7374-8110-F2BA-1446BFE22DFD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0C95F1-CF9B-0C11-2D28-F3D1236A6423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468D8B3-0410-DF53-EFF3-C316878F6216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4207110" y="914400"/>
              <a:chExt cx="3819260" cy="228228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B31FEDD0-B9AA-A954-FEAB-E7D0907F5BE9}"/>
                  </a:ext>
                </a:extLst>
              </p:cNvPr>
              <p:cNvSpPr/>
              <p:nvPr/>
            </p:nvSpPr>
            <p:spPr>
              <a:xfrm>
                <a:off x="4207110" y="1377310"/>
                <a:ext cx="3819260" cy="181937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576725-4527-7DB4-1833-FB0306961195}"/>
                  </a:ext>
                </a:extLst>
              </p:cNvPr>
              <p:cNvSpPr txBox="1"/>
              <p:nvPr/>
            </p:nvSpPr>
            <p:spPr>
              <a:xfrm>
                <a:off x="5582238" y="914400"/>
                <a:ext cx="1027522" cy="27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Program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5FA085-67B7-1388-B02F-1446DDA317A3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1503389"/>
              <a:chOff x="5335571" y="1319753"/>
              <a:chExt cx="2460396" cy="1503389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FE66C6C-DDD9-BC57-3798-7F22E8BC3E9A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7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BBFFAB0-2C89-0687-1A3B-E902C77C983C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412382E-0CED-3464-6340-71D72D6376AF}"/>
                  </a:ext>
                </a:extLst>
              </p:cNvPr>
              <p:cNvSpPr/>
              <p:nvPr/>
            </p:nvSpPr>
            <p:spPr>
              <a:xfrm>
                <a:off x="5335571" y="238008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b: 2</a:t>
                </a:r>
              </a:p>
            </p:txBody>
          </p:sp>
        </p:grp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225B6A9-C4A3-87BD-AF82-B770561A2771}"/>
              </a:ext>
            </a:extLst>
          </p:cNvPr>
          <p:cNvSpPr/>
          <p:nvPr/>
        </p:nvSpPr>
        <p:spPr>
          <a:xfrm>
            <a:off x="5645871" y="5860505"/>
            <a:ext cx="2460396" cy="443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 4</a:t>
            </a:r>
          </a:p>
        </p:txBody>
      </p:sp>
    </p:spTree>
    <p:extLst>
      <p:ext uri="{BB962C8B-B14F-4D97-AF65-F5344CB8AC3E}">
        <p14:creationId xmlns:p14="http://schemas.microsoft.com/office/powerpoint/2010/main" val="3400175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D7DE-19C8-F060-8EC7-B61BEF2D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90EE-4F3A-E213-462F-B9226DB7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A0E540-0744-761B-58B2-682604E8ADD5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program counter can be written to like  any other piece of memory- this allows us to perform selection and iteration.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7F7EC5-6309-BAC5-B8F0-78465606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9" y="4292505"/>
            <a:ext cx="2252730" cy="206586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089169F-7E23-4FFC-698D-CAB1EF321D11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056C536-4556-B9E8-A127-6A381FBDE665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01CA8D-1049-2706-D1A7-3D0074BAC5B3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461E0E-A9DE-73D3-1BBB-E5410DD26D00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4207110" y="914400"/>
              <a:chExt cx="3819260" cy="228228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5B3F9C85-D1B8-EB43-D814-A81E146B68D3}"/>
                  </a:ext>
                </a:extLst>
              </p:cNvPr>
              <p:cNvSpPr/>
              <p:nvPr/>
            </p:nvSpPr>
            <p:spPr>
              <a:xfrm>
                <a:off x="4207110" y="1377310"/>
                <a:ext cx="3819260" cy="181937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65D475-BD26-3931-3A0C-C667DA4B1210}"/>
                  </a:ext>
                </a:extLst>
              </p:cNvPr>
              <p:cNvSpPr txBox="1"/>
              <p:nvPr/>
            </p:nvSpPr>
            <p:spPr>
              <a:xfrm>
                <a:off x="5582238" y="914400"/>
                <a:ext cx="1027522" cy="27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Program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DE21924-4004-730A-48EE-2132BF09722F}"/>
                </a:ext>
              </a:extLst>
            </p:cNvPr>
            <p:cNvGrpSpPr/>
            <p:nvPr/>
          </p:nvGrpSpPr>
          <p:grpSpPr>
            <a:xfrm>
              <a:off x="5406273" y="1206135"/>
              <a:ext cx="2460396" cy="1503389"/>
              <a:chOff x="5335571" y="1319753"/>
              <a:chExt cx="2460396" cy="1503389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B48700A9-002D-9BB1-F006-D319A9C96F4C}"/>
                  </a:ext>
                </a:extLst>
              </p:cNvPr>
              <p:cNvSpPr/>
              <p:nvPr/>
            </p:nvSpPr>
            <p:spPr>
              <a:xfrm>
                <a:off x="5335571" y="131975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Program Counter: 9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7E6B8121-CA26-DCFC-D44F-65C2FC231BF5}"/>
                  </a:ext>
                </a:extLst>
              </p:cNvPr>
              <p:cNvSpPr/>
              <p:nvPr/>
            </p:nvSpPr>
            <p:spPr>
              <a:xfrm>
                <a:off x="5335571" y="1849918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a: 1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05F1A473-751A-D627-3C67-D5CEDBF606BA}"/>
                  </a:ext>
                </a:extLst>
              </p:cNvPr>
              <p:cNvSpPr/>
              <p:nvPr/>
            </p:nvSpPr>
            <p:spPr>
              <a:xfrm>
                <a:off x="5335571" y="2380083"/>
                <a:ext cx="2460396" cy="4430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b: 2</a:t>
                </a:r>
              </a:p>
            </p:txBody>
          </p:sp>
        </p:grp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3E9791-2D5F-CBBE-C1EF-059301C435C9}"/>
              </a:ext>
            </a:extLst>
          </p:cNvPr>
          <p:cNvSpPr/>
          <p:nvPr/>
        </p:nvSpPr>
        <p:spPr>
          <a:xfrm>
            <a:off x="5645871" y="5860505"/>
            <a:ext cx="2460396" cy="443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 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5422CB-20A9-17C8-60AD-56292AB0F517}"/>
              </a:ext>
            </a:extLst>
          </p:cNvPr>
          <p:cNvSpPr/>
          <p:nvPr/>
        </p:nvSpPr>
        <p:spPr>
          <a:xfrm>
            <a:off x="8341935" y="4285896"/>
            <a:ext cx="2460396" cy="443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sum: 6</a:t>
            </a:r>
          </a:p>
        </p:txBody>
      </p:sp>
    </p:spTree>
    <p:extLst>
      <p:ext uri="{BB962C8B-B14F-4D97-AF65-F5344CB8AC3E}">
        <p14:creationId xmlns:p14="http://schemas.microsoft.com/office/powerpoint/2010/main" val="1965968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6312-7747-658D-10CC-460F3A7A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F5B7-680F-B7A8-E60F-F254B4E4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D033F1-D1BC-DE1C-50E9-DA5CD688BB02}"/>
              </a:ext>
            </a:extLst>
          </p:cNvPr>
          <p:cNvSpPr txBox="1"/>
          <p:nvPr/>
        </p:nvSpPr>
        <p:spPr>
          <a:xfrm>
            <a:off x="923544" y="1527048"/>
            <a:ext cx="10177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Exercise: What will be stored in memory after the following piece of code executes? Don’t forget the program counter!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CFFF95-7257-BB9B-33BF-684CD110E62D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3E88D3A-6E46-C832-1F08-0C55FFEF82F0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DC6E7C-C93A-6D1B-D665-AD5111C2D347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4469F3F-6083-824D-8E86-F37EF0481C1A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4207110" y="914400"/>
              <a:chExt cx="3819260" cy="2282283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0A4F81E-CF46-FF14-FFD9-795C979E1B32}"/>
                  </a:ext>
                </a:extLst>
              </p:cNvPr>
              <p:cNvSpPr/>
              <p:nvPr/>
            </p:nvSpPr>
            <p:spPr>
              <a:xfrm>
                <a:off x="4207110" y="1377310"/>
                <a:ext cx="3819260" cy="181937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465C68-3C73-88DF-CF70-FEC10A36F288}"/>
                  </a:ext>
                </a:extLst>
              </p:cNvPr>
              <p:cNvSpPr txBox="1"/>
              <p:nvPr/>
            </p:nvSpPr>
            <p:spPr>
              <a:xfrm>
                <a:off x="5582238" y="914400"/>
                <a:ext cx="1027522" cy="27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Program</a:t>
                </a: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6C6B053-CC24-E1A4-BEA0-25531ECC3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18" y="4204760"/>
            <a:ext cx="1993900" cy="21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05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9D54-1B7D-C601-1EB7-75DB0D2F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7AC3-1B66-C5A1-E15B-CEBE9B67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computer executes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62B84B-7569-4BA9-C640-E8971A65F392}"/>
              </a:ext>
            </a:extLst>
          </p:cNvPr>
          <p:cNvSpPr txBox="1"/>
          <p:nvPr/>
        </p:nvSpPr>
        <p:spPr>
          <a:xfrm>
            <a:off x="923544" y="1527048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CPU can execute a limited number of instructions. These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/ write data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arithmetic operations (add, subtract, multiply divide).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Comparisons (</a:t>
            </a:r>
            <a:r>
              <a:rPr lang="en-US" dirty="0" err="1"/>
              <a:t>i.e</a:t>
            </a:r>
            <a:r>
              <a:rPr lang="en-US" dirty="0"/>
              <a:t> is value 1 greater than value 2).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input / output.</a:t>
            </a:r>
          </a:p>
          <a:p>
            <a:r>
              <a:rPr lang="en-US" dirty="0"/>
              <a:t>One line of Python code may require multiple instructions to be carried out.</a:t>
            </a:r>
          </a:p>
          <a:p>
            <a:r>
              <a:rPr lang="en-US" dirty="0"/>
              <a:t>Q: How many ‘instructions’ are executed in this piece of code?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4896AE-1DE1-AFE0-9FBB-2C82BF11435D}"/>
              </a:ext>
            </a:extLst>
          </p:cNvPr>
          <p:cNvGrpSpPr/>
          <p:nvPr/>
        </p:nvGrpSpPr>
        <p:grpSpPr>
          <a:xfrm>
            <a:off x="1097438" y="3639772"/>
            <a:ext cx="10256362" cy="2853104"/>
            <a:chOff x="857840" y="575897"/>
            <a:chExt cx="10256362" cy="285310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3522BBF6-801C-F9AC-159C-066CF7F6C34C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191953-80EB-84E7-D587-2BDEF187C2BA}"/>
                </a:ext>
              </a:extLst>
            </p:cNvPr>
            <p:cNvSpPr txBox="1"/>
            <p:nvPr/>
          </p:nvSpPr>
          <p:spPr>
            <a:xfrm>
              <a:off x="7396061" y="575897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FA65389-3D54-40AA-D3B5-84003A503D95}"/>
                </a:ext>
              </a:extLst>
            </p:cNvPr>
            <p:cNvGrpSpPr/>
            <p:nvPr/>
          </p:nvGrpSpPr>
          <p:grpSpPr>
            <a:xfrm>
              <a:off x="857840" y="614205"/>
              <a:ext cx="3761296" cy="2814796"/>
              <a:chOff x="1121791" y="614205"/>
              <a:chExt cx="3761296" cy="281479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4AA83E0-E1FC-B0B9-2779-9A0773F32DD0}"/>
                  </a:ext>
                </a:extLst>
              </p:cNvPr>
              <p:cNvGrpSpPr/>
              <p:nvPr/>
            </p:nvGrpSpPr>
            <p:grpSpPr>
              <a:xfrm>
                <a:off x="1121791" y="614205"/>
                <a:ext cx="3761296" cy="2814796"/>
                <a:chOff x="4207110" y="1078647"/>
                <a:chExt cx="3819260" cy="2118036"/>
              </a:xfrm>
            </p:grpSpPr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65AC8495-5505-2523-FAFD-F1BCBAC5A2FB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4D4C379-6392-B10D-2D07-8295CFA5B11A}"/>
                    </a:ext>
                  </a:extLst>
                </p:cNvPr>
                <p:cNvSpPr txBox="1"/>
                <p:nvPr/>
              </p:nvSpPr>
              <p:spPr>
                <a:xfrm>
                  <a:off x="5582237" y="1078647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26" name="Picture 25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4DF05195-43E9-1965-1CA5-BACB04763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9576A2-82EE-CF33-42F5-0CDD44837649}"/>
                </a:ext>
              </a:extLst>
            </p:cNvPr>
            <p:cNvGrpSpPr/>
            <p:nvPr/>
          </p:nvGrpSpPr>
          <p:grpSpPr>
            <a:xfrm>
              <a:off x="5406273" y="1206134"/>
              <a:ext cx="5156460" cy="2027848"/>
              <a:chOff x="5335571" y="1206134"/>
              <a:chExt cx="5156460" cy="202784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41CCE3-087C-3509-698F-3087D362A5AE}"/>
                  </a:ext>
                </a:extLst>
              </p:cNvPr>
              <p:cNvGrpSpPr/>
              <p:nvPr/>
            </p:nvGrpSpPr>
            <p:grpSpPr>
              <a:xfrm>
                <a:off x="5335571" y="1206135"/>
                <a:ext cx="2460396" cy="2027847"/>
                <a:chOff x="5335571" y="1319753"/>
                <a:chExt cx="2460396" cy="2027847"/>
              </a:xfrm>
            </p:grpSpPr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5DBCE16B-EB9C-04BF-BF41-26338A444475}"/>
                    </a:ext>
                  </a:extLst>
                </p:cNvPr>
                <p:cNvSpPr/>
                <p:nvPr/>
              </p:nvSpPr>
              <p:spPr>
                <a:xfrm>
                  <a:off x="5335571" y="131975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Program Counter: 8</a:t>
                  </a:r>
                </a:p>
              </p:txBody>
            </p:sp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566C966F-3122-4A3C-DBF5-69A320C387EF}"/>
                    </a:ext>
                  </a:extLst>
                </p:cNvPr>
                <p:cNvSpPr/>
                <p:nvPr/>
              </p:nvSpPr>
              <p:spPr>
                <a:xfrm>
                  <a:off x="5335571" y="1849918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a: 1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5F321B8E-B141-CCBA-82A1-5B80B791E780}"/>
                    </a:ext>
                  </a:extLst>
                </p:cNvPr>
                <p:cNvSpPr/>
                <p:nvPr/>
              </p:nvSpPr>
              <p:spPr>
                <a:xfrm>
                  <a:off x="5335571" y="238008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b: 2</a:t>
                  </a:r>
                </a:p>
              </p:txBody>
            </p:sp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C84FE260-1412-41DC-FF33-EBCB2472E64D}"/>
                    </a:ext>
                  </a:extLst>
                </p:cNvPr>
                <p:cNvSpPr/>
                <p:nvPr/>
              </p:nvSpPr>
              <p:spPr>
                <a:xfrm>
                  <a:off x="5335571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c: 3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45E0058-A414-C9E9-1CDB-93EB4BCF8760}"/>
                  </a:ext>
                </a:extLst>
              </p:cNvPr>
              <p:cNvGrpSpPr/>
              <p:nvPr/>
            </p:nvGrpSpPr>
            <p:grpSpPr>
              <a:xfrm>
                <a:off x="8031635" y="1206134"/>
                <a:ext cx="2460396" cy="2027848"/>
                <a:chOff x="8031635" y="1319752"/>
                <a:chExt cx="2460396" cy="2027848"/>
              </a:xfrm>
            </p:grpSpPr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119F2150-8F44-EB4C-C38E-CD2ACC318B0E}"/>
                    </a:ext>
                  </a:extLst>
                </p:cNvPr>
                <p:cNvSpPr/>
                <p:nvPr/>
              </p:nvSpPr>
              <p:spPr>
                <a:xfrm>
                  <a:off x="8031635" y="131975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d: 4</a:t>
                  </a:r>
                </a:p>
              </p:txBody>
            </p:sp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4766EE73-4BF2-A12D-15E0-1D8B08FD2D50}"/>
                    </a:ext>
                  </a:extLst>
                </p:cNvPr>
                <p:cNvSpPr/>
                <p:nvPr/>
              </p:nvSpPr>
              <p:spPr>
                <a:xfrm>
                  <a:off x="8031635" y="1849916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sum1: 3</a:t>
                  </a: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69064221-DCB6-46CC-2303-91529A0BB82C}"/>
                    </a:ext>
                  </a:extLst>
                </p:cNvPr>
                <p:cNvSpPr/>
                <p:nvPr/>
              </p:nvSpPr>
              <p:spPr>
                <a:xfrm>
                  <a:off x="8031635" y="237518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sum2: 7</a:t>
                  </a:r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49FAC296-D7BB-C557-7DEB-FE1626FDC20E}"/>
                    </a:ext>
                  </a:extLst>
                </p:cNvPr>
                <p:cNvSpPr/>
                <p:nvPr/>
              </p:nvSpPr>
              <p:spPr>
                <a:xfrm>
                  <a:off x="8031635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total: 10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96779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D643F-020F-85F3-B82D-B51DE531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5488-93AA-E458-49D9-7DDD8F45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72E59-78FD-12DB-1DD0-DB00990D9B88}"/>
              </a:ext>
            </a:extLst>
          </p:cNvPr>
          <p:cNvSpPr txBox="1"/>
          <p:nvPr/>
        </p:nvSpPr>
        <p:spPr>
          <a:xfrm>
            <a:off x="923544" y="1527048"/>
            <a:ext cx="10177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write a computer algorithm we should:</a:t>
            </a:r>
          </a:p>
          <a:p>
            <a:pPr marL="514350" indent="-514350">
              <a:buAutoNum type="arabicPeriod"/>
            </a:pPr>
            <a:r>
              <a:rPr lang="en-US" sz="2800" dirty="0"/>
              <a:t>Understand the task we are trying to perform</a:t>
            </a:r>
          </a:p>
          <a:p>
            <a:pPr marL="514350" indent="-514350">
              <a:buAutoNum type="arabicPeriod"/>
            </a:pPr>
            <a:r>
              <a:rPr lang="en-US" sz="2800" dirty="0"/>
              <a:t>Break the task down into smaller steps, until each step is something that can be performed by a computer.</a:t>
            </a:r>
          </a:p>
          <a:p>
            <a:pPr marL="514350" indent="-514350">
              <a:buAutoNum type="arabicPeriod"/>
            </a:pPr>
            <a:r>
              <a:rPr lang="en-US" sz="2800" dirty="0"/>
              <a:t>Write some computer code that encodes this set of instructions in a format the CPU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4188381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90C1-9352-A443-2E41-57C57874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822F-C03A-391A-6054-708B3FB3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15A2C-2D40-2CEF-2594-F725D749C02C}"/>
              </a:ext>
            </a:extLst>
          </p:cNvPr>
          <p:cNvSpPr txBox="1"/>
          <p:nvPr/>
        </p:nvSpPr>
        <p:spPr>
          <a:xfrm>
            <a:off x="923544" y="1527048"/>
            <a:ext cx="101772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write a computer algorithm we should:</a:t>
            </a:r>
          </a:p>
          <a:p>
            <a:pPr marL="514350" indent="-514350">
              <a:buAutoNum type="arabicPeriod"/>
            </a:pPr>
            <a:r>
              <a:rPr lang="en-US" sz="2800" dirty="0"/>
              <a:t>Understand the task we are trying to perform</a:t>
            </a:r>
          </a:p>
          <a:p>
            <a:pPr marL="514350" indent="-514350">
              <a:buAutoNum type="arabicPeriod"/>
            </a:pPr>
            <a:r>
              <a:rPr lang="en-US" sz="2800" dirty="0"/>
              <a:t>Break the task down into smaller steps, until each step is something that can be performed by a computer.</a:t>
            </a:r>
          </a:p>
          <a:p>
            <a:pPr marL="514350" indent="-514350">
              <a:buAutoNum type="arabicPeriod"/>
            </a:pPr>
            <a:r>
              <a:rPr lang="en-US" sz="2800" dirty="0"/>
              <a:t>Write some computer code that encodes this set of instructions in a format the CPU can understand.</a:t>
            </a:r>
          </a:p>
          <a:p>
            <a:pPr marL="514350" indent="-514350">
              <a:buAutoNum type="arabicPeriod"/>
            </a:pPr>
            <a:endParaRPr lang="en-US" sz="2800" dirty="0"/>
          </a:p>
          <a:p>
            <a:r>
              <a:rPr lang="en-US" sz="2800" dirty="0"/>
              <a:t>To do this, we must write our code in a particular </a:t>
            </a:r>
            <a:r>
              <a:rPr lang="en-US" sz="2800" i="1" dirty="0"/>
              <a:t>programming language</a:t>
            </a:r>
            <a:r>
              <a:rPr lang="en-US" sz="2800" dirty="0"/>
              <a:t>. In this course, we use Python. Early programmers had no choice but to use </a:t>
            </a:r>
            <a:r>
              <a:rPr lang="en-US" sz="2800" i="1" dirty="0"/>
              <a:t>machine code</a:t>
            </a:r>
            <a:r>
              <a:rPr lang="en-US" sz="2800" dirty="0"/>
              <a:t>, which uses binary to specify both data and the instruction to perform.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0390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BE4A-16A0-C22F-298B-C84A2E86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97FE-F72D-1647-DAA5-00A3A2F1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ADB37-2D45-751C-00EA-1BA9BC0B3838}"/>
              </a:ext>
            </a:extLst>
          </p:cNvPr>
          <p:cNvSpPr txBox="1"/>
          <p:nvPr/>
        </p:nvSpPr>
        <p:spPr>
          <a:xfrm>
            <a:off x="923544" y="1527048"/>
            <a:ext cx="101772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this, we must write our code in a particular </a:t>
            </a:r>
            <a:r>
              <a:rPr lang="en-US" sz="2800" i="1" dirty="0"/>
              <a:t>programming language</a:t>
            </a:r>
            <a:r>
              <a:rPr lang="en-US" sz="2800" dirty="0"/>
              <a:t>. In this course, we use Python. Early programmers had no choice but to use </a:t>
            </a:r>
            <a:r>
              <a:rPr lang="en-US" sz="2800" i="1" dirty="0"/>
              <a:t>machine code</a:t>
            </a:r>
            <a:r>
              <a:rPr lang="en-US" sz="2800" dirty="0"/>
              <a:t>, which uses binary to specify both data and the instruction to perform.</a:t>
            </a:r>
          </a:p>
          <a:p>
            <a:endParaRPr lang="en-US" sz="2800" dirty="0"/>
          </a:p>
        </p:txBody>
      </p:sp>
      <p:pic>
        <p:nvPicPr>
          <p:cNvPr id="3" name="Picture 2" descr="A computer code with numbers&#10;&#10;AI-generated content may be incorrect.">
            <a:extLst>
              <a:ext uri="{FF2B5EF4-FFF2-40B4-BE49-F238E27FC236}">
                <a16:creationId xmlns:a16="http://schemas.microsoft.com/office/drawing/2014/main" id="{BDA5A7D4-14F2-445A-2811-61D1A870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0" y="4795847"/>
            <a:ext cx="31369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34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2DF8-82B1-D984-A1A8-B0864C93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D4EC-9383-10A8-84F8-1353E01B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77F18-EDA5-C659-9078-82195F52947A}"/>
              </a:ext>
            </a:extLst>
          </p:cNvPr>
          <p:cNvSpPr txBox="1"/>
          <p:nvPr/>
        </p:nvSpPr>
        <p:spPr>
          <a:xfrm>
            <a:off x="923544" y="1527048"/>
            <a:ext cx="101772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this, we must write our code in a particular </a:t>
            </a:r>
            <a:r>
              <a:rPr lang="en-US" sz="2800" i="1" dirty="0"/>
              <a:t>programming language</a:t>
            </a:r>
            <a:r>
              <a:rPr lang="en-US" sz="2800" dirty="0"/>
              <a:t>. In this course, we use Python. Early programmers had no choice but to use </a:t>
            </a:r>
            <a:r>
              <a:rPr lang="en-US" sz="2800" i="1" dirty="0"/>
              <a:t>machine code</a:t>
            </a:r>
            <a:r>
              <a:rPr lang="en-US" sz="2800" dirty="0"/>
              <a:t>, which uses binary to specify both data and the instruction to perform.</a:t>
            </a:r>
          </a:p>
          <a:p>
            <a:endParaRPr lang="en-US" sz="2800" dirty="0"/>
          </a:p>
          <a:p>
            <a:r>
              <a:rPr lang="en-US" sz="2800" dirty="0"/>
              <a:t>This was very tedious, and so people developed </a:t>
            </a:r>
            <a:r>
              <a:rPr lang="en-US" sz="2800" i="1" dirty="0"/>
              <a:t>assembly language </a:t>
            </a:r>
            <a:r>
              <a:rPr lang="en-US" sz="2800" dirty="0"/>
              <a:t>(and tools for translating assembly into machine code).</a:t>
            </a:r>
          </a:p>
          <a:p>
            <a:endParaRPr lang="en-US" sz="2800" dirty="0"/>
          </a:p>
        </p:txBody>
      </p:sp>
      <p:pic>
        <p:nvPicPr>
          <p:cNvPr id="3" name="Picture 2" descr="A computer code with numbers&#10;&#10;AI-generated content may be incorrect.">
            <a:extLst>
              <a:ext uri="{FF2B5EF4-FFF2-40B4-BE49-F238E27FC236}">
                <a16:creationId xmlns:a16="http://schemas.microsoft.com/office/drawing/2014/main" id="{33ED3B44-326F-816D-B443-337D831A0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08" y="4894647"/>
            <a:ext cx="3136900" cy="1371600"/>
          </a:xfrm>
          <a:prstGeom prst="rect">
            <a:avLst/>
          </a:prstGeom>
        </p:spPr>
      </p:pic>
      <p:pic>
        <p:nvPicPr>
          <p:cNvPr id="4" name="Picture 3" descr="A computer code on a dark background&#10;&#10;AI-generated content may be incorrect.">
            <a:extLst>
              <a:ext uri="{FF2B5EF4-FFF2-40B4-BE49-F238E27FC236}">
                <a16:creationId xmlns:a16="http://schemas.microsoft.com/office/drawing/2014/main" id="{A62C6B0E-4456-7130-0B68-E5B46AA4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850197"/>
            <a:ext cx="26670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23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799D-B169-104A-EC22-82206EFC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0FF0-22EF-3E07-D674-464F57B6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B90F8-9FFB-9A1A-901B-4B6406D6147F}"/>
              </a:ext>
            </a:extLst>
          </p:cNvPr>
          <p:cNvSpPr txBox="1"/>
          <p:nvPr/>
        </p:nvSpPr>
        <p:spPr>
          <a:xfrm>
            <a:off x="923544" y="1527048"/>
            <a:ext cx="101772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this, we must write our code in a particular </a:t>
            </a:r>
            <a:r>
              <a:rPr lang="en-US" sz="2800" i="1" dirty="0"/>
              <a:t>programming language</a:t>
            </a:r>
            <a:r>
              <a:rPr lang="en-US" sz="2800" dirty="0"/>
              <a:t>. In this course, we use Python. Early programmers had no choice but to use </a:t>
            </a:r>
            <a:r>
              <a:rPr lang="en-US" sz="2800" i="1" dirty="0"/>
              <a:t>machine code</a:t>
            </a:r>
            <a:r>
              <a:rPr lang="en-US" sz="2800" dirty="0"/>
              <a:t>, which uses binary to specify both data and the instruction to perform.</a:t>
            </a:r>
          </a:p>
          <a:p>
            <a:endParaRPr lang="en-US" sz="2800" dirty="0"/>
          </a:p>
          <a:p>
            <a:r>
              <a:rPr lang="en-US" sz="2800" dirty="0"/>
              <a:t>This was very tedious, and so people developed </a:t>
            </a:r>
            <a:r>
              <a:rPr lang="en-US" sz="2800" i="1" dirty="0"/>
              <a:t>assembly language </a:t>
            </a:r>
            <a:r>
              <a:rPr lang="en-US" sz="2800" dirty="0"/>
              <a:t>(and tools for translating assembly into machine code).</a:t>
            </a:r>
          </a:p>
          <a:p>
            <a:endParaRPr lang="en-US" sz="2800" dirty="0"/>
          </a:p>
          <a:p>
            <a:r>
              <a:rPr lang="en-US" sz="2800" dirty="0"/>
              <a:t>Assembly is still tedious to write, so people developed </a:t>
            </a:r>
            <a:r>
              <a:rPr lang="en-US" sz="2800" i="1" dirty="0"/>
              <a:t>higher-level programming languages</a:t>
            </a:r>
            <a:r>
              <a:rPr lang="en-US" sz="2800" dirty="0"/>
              <a:t> like Python that let us write code that looks a bit more like English. </a:t>
            </a:r>
          </a:p>
        </p:txBody>
      </p:sp>
    </p:spTree>
    <p:extLst>
      <p:ext uri="{BB962C8B-B14F-4D97-AF65-F5344CB8AC3E}">
        <p14:creationId xmlns:p14="http://schemas.microsoft.com/office/powerpoint/2010/main" val="2514507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536E7-3663-2DF1-8DD8-7D858D9D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B726-DC95-166A-E846-2A49B735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EC822-D443-7DDE-21ED-E4A3542E8BE4}"/>
              </a:ext>
            </a:extLst>
          </p:cNvPr>
          <p:cNvSpPr txBox="1"/>
          <p:nvPr/>
        </p:nvSpPr>
        <p:spPr>
          <a:xfrm>
            <a:off x="923544" y="1527048"/>
            <a:ext cx="10177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Assembly is still tedious to write, so people developed </a:t>
            </a:r>
            <a:r>
              <a:rPr lang="en-US" sz="2800" i="1" dirty="0"/>
              <a:t>higher-level programming languages</a:t>
            </a:r>
            <a:r>
              <a:rPr lang="en-US" sz="2800" dirty="0"/>
              <a:t> like Python that let us write code that looks a bit more like English.</a:t>
            </a:r>
          </a:p>
        </p:txBody>
      </p:sp>
      <p:pic>
        <p:nvPicPr>
          <p:cNvPr id="6" name="Picture 5" descr="A computer code with numbers&#10;&#10;AI-generated content may be incorrect.">
            <a:extLst>
              <a:ext uri="{FF2B5EF4-FFF2-40B4-BE49-F238E27FC236}">
                <a16:creationId xmlns:a16="http://schemas.microsoft.com/office/drawing/2014/main" id="{149BD504-4F31-DD0F-ABDB-41D88C00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2912043"/>
            <a:ext cx="3136900" cy="1371600"/>
          </a:xfrm>
          <a:prstGeom prst="rect">
            <a:avLst/>
          </a:prstGeom>
        </p:spPr>
      </p:pic>
      <p:pic>
        <p:nvPicPr>
          <p:cNvPr id="7" name="Picture 6" descr="A computer code on a dark background&#10;&#10;AI-generated content may be incorrect.">
            <a:extLst>
              <a:ext uri="{FF2B5EF4-FFF2-40B4-BE49-F238E27FC236}">
                <a16:creationId xmlns:a16="http://schemas.microsoft.com/office/drawing/2014/main" id="{1724289C-A58E-FE61-5A02-CE71EA2EB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353" y="2926962"/>
            <a:ext cx="2667000" cy="1460500"/>
          </a:xfrm>
          <a:prstGeom prst="rect">
            <a:avLst/>
          </a:prstGeom>
        </p:spPr>
      </p:pic>
      <p:pic>
        <p:nvPicPr>
          <p:cNvPr id="8" name="Picture 7" descr="A close up of a speed&#10;&#10;AI-generated content may be incorrect.">
            <a:extLst>
              <a:ext uri="{FF2B5EF4-FFF2-40B4-BE49-F238E27FC236}">
                <a16:creationId xmlns:a16="http://schemas.microsoft.com/office/drawing/2014/main" id="{2C6ACF9B-D438-2871-F11B-ED4F6600B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912043"/>
            <a:ext cx="37846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99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D8DE-FD9E-9572-46FB-304AF39E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9DF7-E0B9-A190-4AF5-BE16902F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E720A-41FD-9C42-BBB1-1BA6F04FF0C6}"/>
              </a:ext>
            </a:extLst>
          </p:cNvPr>
          <p:cNvSpPr txBox="1"/>
          <p:nvPr/>
        </p:nvSpPr>
        <p:spPr>
          <a:xfrm>
            <a:off x="923544" y="1527048"/>
            <a:ext cx="101772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Assembly is still tedious to write, so people developed </a:t>
            </a:r>
            <a:r>
              <a:rPr lang="en-US" sz="2800" i="1" dirty="0"/>
              <a:t>higher-level programming languages</a:t>
            </a:r>
            <a:r>
              <a:rPr lang="en-US" sz="2800" dirty="0"/>
              <a:t> like Python that let us write code that looks a bit more like English.</a:t>
            </a:r>
          </a:p>
        </p:txBody>
      </p:sp>
      <p:pic>
        <p:nvPicPr>
          <p:cNvPr id="3" name="Picture 2" descr="A computer code with numbers&#10;&#10;AI-generated content may be incorrect.">
            <a:extLst>
              <a:ext uri="{FF2B5EF4-FFF2-40B4-BE49-F238E27FC236}">
                <a16:creationId xmlns:a16="http://schemas.microsoft.com/office/drawing/2014/main" id="{622798CC-00D5-9C0C-BA50-A3102FFA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2912043"/>
            <a:ext cx="3136900" cy="1371600"/>
          </a:xfrm>
          <a:prstGeom prst="rect">
            <a:avLst/>
          </a:prstGeom>
        </p:spPr>
      </p:pic>
      <p:pic>
        <p:nvPicPr>
          <p:cNvPr id="4" name="Picture 3" descr="A computer code on a dark background&#10;&#10;AI-generated content may be incorrect.">
            <a:extLst>
              <a:ext uri="{FF2B5EF4-FFF2-40B4-BE49-F238E27FC236}">
                <a16:creationId xmlns:a16="http://schemas.microsoft.com/office/drawing/2014/main" id="{0DAA0F6E-B195-2CB1-EFEA-E26AE7F86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353" y="2926962"/>
            <a:ext cx="2667000" cy="1460500"/>
          </a:xfrm>
          <a:prstGeom prst="rect">
            <a:avLst/>
          </a:prstGeom>
        </p:spPr>
      </p:pic>
      <p:pic>
        <p:nvPicPr>
          <p:cNvPr id="5" name="Picture 4" descr="A close up of a speed&#10;&#10;AI-generated content may be incorrect.">
            <a:extLst>
              <a:ext uri="{FF2B5EF4-FFF2-40B4-BE49-F238E27FC236}">
                <a16:creationId xmlns:a16="http://schemas.microsoft.com/office/drawing/2014/main" id="{11B2A3CB-5478-EF4A-3C6B-20D83DCF5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2912043"/>
            <a:ext cx="3784600" cy="72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C88F60-A86C-E5E3-1EB7-EF66F9C8C3DD}"/>
              </a:ext>
            </a:extLst>
          </p:cNvPr>
          <p:cNvSpPr txBox="1"/>
          <p:nvPr/>
        </p:nvSpPr>
        <p:spPr>
          <a:xfrm>
            <a:off x="923544" y="4402381"/>
            <a:ext cx="101772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Although Python looks like English, it is not. Valid Python must follow a specified pattern (</a:t>
            </a:r>
            <a:r>
              <a:rPr lang="en-US" sz="2800" i="1" dirty="0"/>
              <a:t>syntax), </a:t>
            </a:r>
            <a:r>
              <a:rPr lang="en-US" sz="2800" dirty="0"/>
              <a:t>or you’ll get an error.</a:t>
            </a:r>
            <a:r>
              <a:rPr lang="en-US" sz="2800" i="1" dirty="0"/>
              <a:t> </a:t>
            </a:r>
            <a:r>
              <a:rPr lang="en-US" sz="2800" dirty="0"/>
              <a:t>One of your main jobs is to understand the </a:t>
            </a:r>
            <a:r>
              <a:rPr lang="en-US" sz="2800" i="1" dirty="0"/>
              <a:t>semantics of </a:t>
            </a:r>
            <a:r>
              <a:rPr lang="en-US" sz="2800" dirty="0"/>
              <a:t>Python syntax </a:t>
            </a:r>
            <a:r>
              <a:rPr lang="en-US" sz="2800" dirty="0" err="1"/>
              <a:t>i.e</a:t>
            </a:r>
            <a:r>
              <a:rPr lang="en-US" sz="2800" dirty="0"/>
              <a:t> how will a line of Python code change the state (</a:t>
            </a:r>
            <a:r>
              <a:rPr lang="en-US" sz="2800" dirty="0" err="1"/>
              <a:t>i.e</a:t>
            </a:r>
            <a:r>
              <a:rPr lang="en-US" sz="2800" dirty="0"/>
              <a:t> memory) of the computer?</a:t>
            </a:r>
          </a:p>
        </p:txBody>
      </p:sp>
    </p:spTree>
    <p:extLst>
      <p:ext uri="{BB962C8B-B14F-4D97-AF65-F5344CB8AC3E}">
        <p14:creationId xmlns:p14="http://schemas.microsoft.com/office/powerpoint/2010/main" val="38095270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27638-50F2-9B3D-E903-56CB2048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03CB-8E88-D5F0-9246-979917B3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write computer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7D07C-605F-0789-D6E5-F480E86D0E9A}"/>
              </a:ext>
            </a:extLst>
          </p:cNvPr>
          <p:cNvSpPr txBox="1"/>
          <p:nvPr/>
        </p:nvSpPr>
        <p:spPr>
          <a:xfrm>
            <a:off x="838200" y="1690688"/>
            <a:ext cx="10177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Although Python looks like English, it is not. Valid Python must follow a specified pattern (</a:t>
            </a:r>
            <a:r>
              <a:rPr lang="en-US" sz="2000" i="1" dirty="0"/>
              <a:t>syntax), </a:t>
            </a:r>
            <a:r>
              <a:rPr lang="en-US" sz="2000" dirty="0"/>
              <a:t>or you’ll get an error.</a:t>
            </a:r>
            <a:r>
              <a:rPr lang="en-US" sz="2000" i="1" dirty="0"/>
              <a:t> </a:t>
            </a:r>
            <a:r>
              <a:rPr lang="en-US" sz="2000" dirty="0"/>
              <a:t>One of your main jobs is to understand the </a:t>
            </a:r>
            <a:r>
              <a:rPr lang="en-US" sz="2000" i="1" dirty="0"/>
              <a:t>semantics of </a:t>
            </a:r>
            <a:r>
              <a:rPr lang="en-US" sz="2000" dirty="0"/>
              <a:t>Python syntax </a:t>
            </a:r>
            <a:r>
              <a:rPr lang="en-US" sz="2000" dirty="0" err="1"/>
              <a:t>i.e</a:t>
            </a:r>
            <a:r>
              <a:rPr lang="en-US" sz="2000" dirty="0"/>
              <a:t> </a:t>
            </a:r>
            <a:r>
              <a:rPr lang="en-US" sz="2000" u="sng" dirty="0"/>
              <a:t>how will a line  </a:t>
            </a:r>
            <a:r>
              <a:rPr lang="en-US" sz="2000" u="sng"/>
              <a:t>(or </a:t>
            </a:r>
            <a:r>
              <a:rPr lang="en-US" sz="2000" u="sng" dirty="0"/>
              <a:t>series of lines) of Python code change the state (</a:t>
            </a:r>
            <a:r>
              <a:rPr lang="en-US" sz="2000" u="sng" dirty="0" err="1"/>
              <a:t>i.e</a:t>
            </a:r>
            <a:r>
              <a:rPr lang="en-US" sz="2000" u="sng" dirty="0"/>
              <a:t> memory) of the computer?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2AFD8E-2DBF-8C17-0E3D-B9296810448E}"/>
              </a:ext>
            </a:extLst>
          </p:cNvPr>
          <p:cNvGrpSpPr/>
          <p:nvPr/>
        </p:nvGrpSpPr>
        <p:grpSpPr>
          <a:xfrm>
            <a:off x="1097438" y="3459801"/>
            <a:ext cx="10256362" cy="3033074"/>
            <a:chOff x="857840" y="395926"/>
            <a:chExt cx="10256362" cy="3033074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83B35AE-5CD7-73D3-1F26-313B640EBB98}"/>
                </a:ext>
              </a:extLst>
            </p:cNvPr>
            <p:cNvSpPr/>
            <p:nvPr/>
          </p:nvSpPr>
          <p:spPr>
            <a:xfrm>
              <a:off x="4854804" y="1011117"/>
              <a:ext cx="6259398" cy="241788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CFF80B-345F-E631-5985-8653B699455A}"/>
                </a:ext>
              </a:extLst>
            </p:cNvPr>
            <p:cNvSpPr txBox="1"/>
            <p:nvPr/>
          </p:nvSpPr>
          <p:spPr>
            <a:xfrm>
              <a:off x="7396062" y="395926"/>
              <a:ext cx="1176883" cy="490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Memory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F77250E-8425-B4C7-9768-AF33595D5DE8}"/>
                </a:ext>
              </a:extLst>
            </p:cNvPr>
            <p:cNvGrpSpPr/>
            <p:nvPr/>
          </p:nvGrpSpPr>
          <p:grpSpPr>
            <a:xfrm>
              <a:off x="857840" y="395926"/>
              <a:ext cx="3761296" cy="3033074"/>
              <a:chOff x="1121791" y="395926"/>
              <a:chExt cx="3761296" cy="303307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C73FCE8-CD22-1F05-A380-04C9F629A1C2}"/>
                  </a:ext>
                </a:extLst>
              </p:cNvPr>
              <p:cNvGrpSpPr/>
              <p:nvPr/>
            </p:nvGrpSpPr>
            <p:grpSpPr>
              <a:xfrm>
                <a:off x="1121791" y="395926"/>
                <a:ext cx="3761296" cy="3033074"/>
                <a:chOff x="4207110" y="914400"/>
                <a:chExt cx="3819260" cy="2282283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9F570706-8C19-C693-3FD7-596E046ABA54}"/>
                    </a:ext>
                  </a:extLst>
                </p:cNvPr>
                <p:cNvSpPr/>
                <p:nvPr/>
              </p:nvSpPr>
              <p:spPr>
                <a:xfrm>
                  <a:off x="4207110" y="1377310"/>
                  <a:ext cx="3819260" cy="1819373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4DE6233-922D-9ECB-4BCA-C6904408B728}"/>
                    </a:ext>
                  </a:extLst>
                </p:cNvPr>
                <p:cNvSpPr txBox="1"/>
                <p:nvPr/>
              </p:nvSpPr>
              <p:spPr>
                <a:xfrm>
                  <a:off x="5582238" y="914400"/>
                  <a:ext cx="1027522" cy="27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Program</a:t>
                  </a:r>
                </a:p>
              </p:txBody>
            </p:sp>
          </p:grpSp>
          <p:pic>
            <p:nvPicPr>
              <p:cNvPr id="24" name="Picture 23" descr="A screen shot of a computer&#10;&#10;AI-generated content may be incorrect.">
                <a:extLst>
                  <a:ext uri="{FF2B5EF4-FFF2-40B4-BE49-F238E27FC236}">
                    <a16:creationId xmlns:a16="http://schemas.microsoft.com/office/drawing/2014/main" id="{40B9EB3F-810D-5775-5B1D-3EA2F0E26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3122" y="1130824"/>
                <a:ext cx="2897780" cy="2159130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AA3AF5E-6AB9-ED66-119D-360F59FE785B}"/>
                </a:ext>
              </a:extLst>
            </p:cNvPr>
            <p:cNvGrpSpPr/>
            <p:nvPr/>
          </p:nvGrpSpPr>
          <p:grpSpPr>
            <a:xfrm>
              <a:off x="5406273" y="1206134"/>
              <a:ext cx="5156460" cy="2027848"/>
              <a:chOff x="5335571" y="1206134"/>
              <a:chExt cx="5156460" cy="202784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DF103F-7FD4-5548-7E82-0D65F39769DA}"/>
                  </a:ext>
                </a:extLst>
              </p:cNvPr>
              <p:cNvGrpSpPr/>
              <p:nvPr/>
            </p:nvGrpSpPr>
            <p:grpSpPr>
              <a:xfrm>
                <a:off x="5335571" y="1206135"/>
                <a:ext cx="2460396" cy="2027847"/>
                <a:chOff x="5335571" y="1319753"/>
                <a:chExt cx="2460396" cy="2027847"/>
              </a:xfrm>
            </p:grpSpPr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285A0A7D-2836-127F-B9B7-2929E618583A}"/>
                    </a:ext>
                  </a:extLst>
                </p:cNvPr>
                <p:cNvSpPr/>
                <p:nvPr/>
              </p:nvSpPr>
              <p:spPr>
                <a:xfrm>
                  <a:off x="5335571" y="131975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Program Counter: 8</a:t>
                  </a:r>
                </a:p>
              </p:txBody>
            </p: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C1ED18B4-9A68-2035-58FC-91BD35BB8FE8}"/>
                    </a:ext>
                  </a:extLst>
                </p:cNvPr>
                <p:cNvSpPr/>
                <p:nvPr/>
              </p:nvSpPr>
              <p:spPr>
                <a:xfrm>
                  <a:off x="5335571" y="1849918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a: 1</a:t>
                  </a: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D526DA9B-C412-F964-8ABD-B4ED51FFFD52}"/>
                    </a:ext>
                  </a:extLst>
                </p:cNvPr>
                <p:cNvSpPr/>
                <p:nvPr/>
              </p:nvSpPr>
              <p:spPr>
                <a:xfrm>
                  <a:off x="5335571" y="2380083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b: 2</a:t>
                  </a:r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51C82E45-7FE4-EF64-86AF-9A3E8E7BC040}"/>
                    </a:ext>
                  </a:extLst>
                </p:cNvPr>
                <p:cNvSpPr/>
                <p:nvPr/>
              </p:nvSpPr>
              <p:spPr>
                <a:xfrm>
                  <a:off x="5335571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c: 3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DEAE15F-A60B-54C5-7362-BB9A9C5F6286}"/>
                  </a:ext>
                </a:extLst>
              </p:cNvPr>
              <p:cNvGrpSpPr/>
              <p:nvPr/>
            </p:nvGrpSpPr>
            <p:grpSpPr>
              <a:xfrm>
                <a:off x="8031635" y="1206134"/>
                <a:ext cx="2460396" cy="2027848"/>
                <a:chOff x="8031635" y="1319752"/>
                <a:chExt cx="2460396" cy="2027848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2570723E-883F-7D0C-1E10-4AAEC40D792B}"/>
                    </a:ext>
                  </a:extLst>
                </p:cNvPr>
                <p:cNvSpPr/>
                <p:nvPr/>
              </p:nvSpPr>
              <p:spPr>
                <a:xfrm>
                  <a:off x="8031635" y="131975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d: 4</a:t>
                  </a: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B8882A41-C50F-83F8-3558-0B7AC8C16441}"/>
                    </a:ext>
                  </a:extLst>
                </p:cNvPr>
                <p:cNvSpPr/>
                <p:nvPr/>
              </p:nvSpPr>
              <p:spPr>
                <a:xfrm>
                  <a:off x="8031635" y="1849916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sum1: 3</a:t>
                  </a:r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AACADB45-A1D1-5B4E-2C8A-758D7F74380B}"/>
                    </a:ext>
                  </a:extLst>
                </p:cNvPr>
                <p:cNvSpPr/>
                <p:nvPr/>
              </p:nvSpPr>
              <p:spPr>
                <a:xfrm>
                  <a:off x="8031635" y="2375182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sum2: 7</a:t>
                  </a:r>
                </a:p>
              </p:txBody>
            </p:sp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6A9076C2-B149-4D56-2B6D-42B15EB4178F}"/>
                    </a:ext>
                  </a:extLst>
                </p:cNvPr>
                <p:cNvSpPr/>
                <p:nvPr/>
              </p:nvSpPr>
              <p:spPr>
                <a:xfrm>
                  <a:off x="8031635" y="2904541"/>
                  <a:ext cx="2460396" cy="443059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total: 10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2976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2571</Words>
  <Application>Microsoft Macintosh PowerPoint</Application>
  <PresentationFormat>Widescreen</PresentationFormat>
  <Paragraphs>341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Algorithms and how a computer executes them</vt:lpstr>
      <vt:lpstr>What do you already know? </vt:lpstr>
      <vt:lpstr>Today’s learning objectives</vt:lpstr>
      <vt:lpstr>Algorithms</vt:lpstr>
      <vt:lpstr>Algorithms</vt:lpstr>
      <vt:lpstr>Designing algorithms</vt:lpstr>
      <vt:lpstr>Designing algorithms</vt:lpstr>
      <vt:lpstr>Designing algorithms</vt:lpstr>
      <vt:lpstr>Designing algorithms</vt:lpstr>
      <vt:lpstr>Designing algorithms</vt:lpstr>
      <vt:lpstr>Designing algorithms</vt:lpstr>
      <vt:lpstr>Designing algorithms</vt:lpstr>
      <vt:lpstr>Designing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a computer executes algorithms</vt:lpstr>
      <vt:lpstr>How to write computer algorithms</vt:lpstr>
      <vt:lpstr>How to write computer algorithms</vt:lpstr>
      <vt:lpstr>How to write computer algorithms</vt:lpstr>
      <vt:lpstr>How to write computer algorithms</vt:lpstr>
      <vt:lpstr>How to write computer algorithms</vt:lpstr>
      <vt:lpstr>How to write computer algorithms</vt:lpstr>
      <vt:lpstr>How to write computer algorithms</vt:lpstr>
      <vt:lpstr>How to write computer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Martin Garrad</cp:lastModifiedBy>
  <cp:revision>2</cp:revision>
  <dcterms:created xsi:type="dcterms:W3CDTF">2025-08-04T11:15:52Z</dcterms:created>
  <dcterms:modified xsi:type="dcterms:W3CDTF">2026-09-17T15:26:19Z</dcterms:modified>
</cp:coreProperties>
</file>